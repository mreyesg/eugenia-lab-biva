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6843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BIBLIOTECA VIVA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2286000"/>
            <a:ext cx="94484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100" i="1" dirty="0">
                <a:solidFill>
                  <a:srgbClr val="A9D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de una herramienta agentic de IA para la investigación científica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724248" y="3566160"/>
            <a:ext cx="274320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3749040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corpus bibliográfico a la decisión experimental: motor de evidencia, Matriz de Decisión y validación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4663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Reyes Guzmán, Ph.D. (investigador principal)  ·  Kamila López Díaz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EugenIA Lab, Departamento de Ciencias Físicas (CIFI 4996), Facultad de Estudios Generales, UPR-Río Piedras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vivo del proceso de desarrollo  ·  versión de trabajo, julio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qué trata </a:t>
            </a:r>
            <a:r>
              <a:rPr lang="en-US" sz="3400" b="1" dirty="0" err="1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</a:t>
            </a: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400" b="1" dirty="0" err="1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A9D6E5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105457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es una aplicación web agentic que ayuda a un investigador a encontrar la evidencia que mejor sostiene cada parte de su trabajo y a traducirla en criterios de decisión concretos. Esta </a:t>
            </a:r>
            <a:r>
              <a:rPr lang="en-US" sz="20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documenta su desarrollo, no solo su producto final.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10545775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y qué problema resuelve en el flujo real de la investigación.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construida: arquitectura, principios de diseño y el uso responsable de IA.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desarrolló, de forma iterativa, y cómo se validó en cada paso.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limitaciones iniciales tenía y qué fortalezas se lograron integrar.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lecciones deja para desarrollar herramientas de IA para la investigación científica.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10712"/>
            <a:ext cx="12191695" cy="36576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A9D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y la motivación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hace falta una herramienta como esta, y en qué contexto nace.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Mucha literatura, pocas decisiones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A9D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984249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 es un problema real de EugenIA Lab, programa de experiencias investigativas subgraduadas (CIFI 4996) cuyo proyecto fundacional estudia Plectranthus amboinicus, el orégano brujo.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236745"/>
            <a:ext cx="105457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literatura científica está dispersa y usa metodologías heterogéneas entre estudios.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búsqueda puntual encuentra artículos, pero no los convierte en criterios para el próximo experimento.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vínculo entre composición, bioactividad y aplicación suele quedar débil en la literatura existente.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un instrumento que sostenga el ciclo completo: de la literatura a la decisión experimental.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59" y="5532120"/>
            <a:ext cx="10545775" cy="914400"/>
          </a:xfrm>
          <a:prstGeom prst="roundRect">
            <a:avLst>
              <a:gd name="adj" fmla="val 6000"/>
            </a:avLst>
          </a:prstGeom>
          <a:solidFill>
            <a:srgbClr val="EAF3F5"/>
          </a:solidFill>
          <a:ln/>
        </p:spPr>
        <p:txBody>
          <a:bodyPr/>
          <a:lstStyle/>
          <a:p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32583" y="548640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central   </a:t>
            </a: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bibliometría no como fin descriptivo, sino como instrumento de decisión. El nombre EugenIA honra a Eugene Garfield, fundador de la bibliometría moderna.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10712"/>
            <a:ext cx="12191695" cy="36576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A9D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 Biblioteca Viva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59" y="433529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de evidencia, la Matriz de Decisión y el principio que gobierna el uso de IA.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herramienta, dos formas de entrar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A9D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59" y="2078349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igual para empezar un proyecto o para reforzar uno en curso. El investigador escoge según lo que ya tiene, y ambos caminos llegan al mismo motor de evidencia.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58" y="3038469"/>
            <a:ext cx="105457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20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investigador</a:t>
            </a:r>
            <a:endParaRPr lang="en-US" sz="2000" dirty="0"/>
          </a:p>
          <a:p>
            <a:pPr marL="0" lvl="1" indent="0" algn="l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quien ya tiene una pregunta, propuesta o abstract. Entra con su material y va directo a la evidencia y las decisiones.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20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guiado</a:t>
            </a:r>
            <a:endParaRPr lang="en-US" sz="2000" dirty="0"/>
          </a:p>
          <a:p>
            <a:pPr marL="0" lvl="1" indent="0" algn="l">
              <a:lnSpc>
                <a:spcPct val="114000"/>
              </a:lnSpc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quien todavía define su investigación. La IA ayuda a construir la fricción conceptual, la pregunta y los objetivos.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57" y="5422391"/>
            <a:ext cx="10545775" cy="914400"/>
          </a:xfrm>
          <a:prstGeom prst="roundRect">
            <a:avLst>
              <a:gd name="adj" fmla="val 6000"/>
            </a:avLst>
          </a:prstGeom>
          <a:solidFill>
            <a:srgbClr val="EAF3F5"/>
          </a:solidFill>
          <a:ln/>
        </p:spPr>
        <p:txBody>
          <a:bodyPr/>
          <a:lstStyle/>
          <a:p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539496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  </a:t>
            </a: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 que corre en el navegador del teléfono, accesible por un código QR. No requiere instalar nada ni crear cuenta; el progreso se guarda en el propio dispositivo.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motor de evidencia y la MDE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A9D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1054577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artículos reales por cada componente del trabajo, en bases bibliográficas abiertas.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fuente se anota con su aporte a la investigación y su ajuste al componente (directo, parcial o tangencial).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Decisión (MDE): traduce la evidencia aceptada en dimensiones de decisión con criterios concretos.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trazable: consensos, contradicciones y brechas del corpus, cada hallazgo ligado a sus fuentes.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evidencia exportable, que reúne foco, síntesis, MDE y bibliografía.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623560"/>
            <a:ext cx="10545775" cy="914400"/>
          </a:xfrm>
          <a:prstGeom prst="roundRect">
            <a:avLst>
              <a:gd name="adj" fmla="val 6000"/>
            </a:avLst>
          </a:prstGeom>
          <a:solidFill>
            <a:srgbClr val="EAF3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5522282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de confianza   </a:t>
            </a: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nunca inventa citas. Todos los artículos provienen siempre de las bases de datos, nunca del modelo; la IA solo comenta fuentes que existen de verdad.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DE DISEÑO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IA propone, el investigador decide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A9D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59" y="2112264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curaduría crítica y las decisiones científicas no se delegan a un atajo automático. La IA genera borradores; el investigador los revisa, edita y confirma. Nada se guarda de forma silenciosa.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58" y="3008376"/>
            <a:ext cx="105457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Reenfoque: la IA propone un foco reformulado desde los artículos aceptados; el investigador lo adopta o conserva el original.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lectura: sugerencia editable a partir del resumen real, nunca una ficha cerrada guardada sola.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un PDF propio: la extracción prellena los campos, pero la referencia solo se añade cuando el investigador confirma.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5439696"/>
            <a:ext cx="10545775" cy="914400"/>
          </a:xfrm>
          <a:prstGeom prst="roundRect">
            <a:avLst>
              <a:gd name="adj" fmla="val 6000"/>
            </a:avLst>
          </a:prstGeom>
          <a:solidFill>
            <a:srgbClr val="EAF3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57" y="5463048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  </a:t>
            </a: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principio es tanto metodológico como ético: mantiene el juicio científico en manos del investigador y hace auditable cada paso de la evidencia a la decisión.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10712"/>
            <a:ext cx="12191695" cy="36576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A9D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técnica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59" y="428957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construida, y por qué esas decisiones sostienen el uso responsable de IA.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frontend liviano y un backend seguro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A9D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separa lo que ve el usuario de la clave de IA, que nunca llega al navegador. El backend actúa de proxy seguro y de motor de búsqueda.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154680"/>
            <a:ext cx="2396414" cy="1371600"/>
          </a:xfrm>
          <a:prstGeom prst="roundRect">
            <a:avLst>
              <a:gd name="adj" fmla="val 5333"/>
            </a:avLst>
          </a:prstGeom>
          <a:solidFill>
            <a:srgbClr val="DC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396414" cy="1371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3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(HTML + JS, sin build)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01086" y="3154680"/>
            <a:ext cx="594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539414" y="3154680"/>
            <a:ext cx="2396414" cy="1371600"/>
          </a:xfrm>
          <a:prstGeom prst="roundRect">
            <a:avLst>
              <a:gd name="adj" fmla="val 5333"/>
            </a:avLst>
          </a:prstGeom>
          <a:solidFill>
            <a:srgbClr val="C156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39414" y="3154680"/>
            <a:ext cx="2396414" cy="1371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serverless</a:t>
            </a:r>
            <a:endParaRPr lang="en-US" sz="13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/api/generate, /api/search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917540" y="3154680"/>
            <a:ext cx="594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55868" y="3154680"/>
            <a:ext cx="2396414" cy="1371600"/>
          </a:xfrm>
          <a:prstGeom prst="roundRect">
            <a:avLst>
              <a:gd name="adj" fmla="val 5333"/>
            </a:avLst>
          </a:prstGeom>
          <a:solidFill>
            <a:srgbClr val="DC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55868" y="3154680"/>
            <a:ext cx="2396414" cy="1371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3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(proxy seguro de la clave)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33993" y="3154680"/>
            <a:ext cx="594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72321" y="3154680"/>
            <a:ext cx="2396414" cy="1371600"/>
          </a:xfrm>
          <a:prstGeom prst="roundRect">
            <a:avLst>
              <a:gd name="adj" fmla="val 5333"/>
            </a:avLst>
          </a:prstGeom>
          <a:solidFill>
            <a:srgbClr val="DC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72321" y="3154680"/>
            <a:ext cx="2396414" cy="1371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bibliográficas</a:t>
            </a:r>
            <a:endParaRPr lang="en-US" sz="13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OpenAlex, Europe PMC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10545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vanilla JS de una sola página, con persistencia local; sin paso de compilación.</a:t>
            </a:r>
            <a:endParaRPr lang="en-US" sz="1500" dirty="0"/>
          </a:p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 Vercel: la clave de IA vive solo en el servidor, como variable de entorno.</a:t>
            </a:r>
            <a:endParaRPr lang="en-US" sz="1500" dirty="0"/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 estructuradas (JSON por esquema) que garantizan respuestas válidas sin limpiar texto a mano.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POR DENTRO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Tareas especializadas, no un chat abierto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A9D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8788" y="209849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no puede pedir cualquier cosa a la IA: solo puede invocar tareas definidas, con datos estructurados. Así la clave no queda expuesta como un chat libre para cualquiera que escanee el QR.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8787" y="3195770"/>
            <a:ext cx="105457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Formulación: fricción conceptual, pregunta y objetivos, componentes del trabajo.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Evidencia: búsqueda anotada, Matriz de Decisión, síntesis, reenfoque.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y salida: notas de lectura, extracción de referencia desde PDF, estructura de divulgación.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tarea entrega datos con un esquema fijo, con topes de tamaño y de costo por llamada.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5394960"/>
            <a:ext cx="10545775" cy="914400"/>
          </a:xfrm>
          <a:prstGeom prst="roundRect">
            <a:avLst>
              <a:gd name="adj" fmla="val 6000"/>
            </a:avLst>
          </a:prstGeom>
          <a:solidFill>
            <a:srgbClr val="EAF3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539496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  </a:t>
            </a: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defecto Claude Sonnet, configurable por variable de entorno. Balance de calidad, costo y latencia para una app pública en el teléfono.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10712"/>
            <a:ext cx="12191695" cy="36576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A9D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proceso de desarrollo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producto que no salió de una sola idea, sino de varias iteraciones sobre evidencia real de uso.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86968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evolucionó el concepto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A9D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59" y="2126501"/>
            <a:ext cx="105457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póster pasó de mostrar solo resultados fitoquímicos a organizarse alrededor de un framework, y finalmente alrededor de EugenIA Lab y la MDE como protagonista.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nació como artefacto de Claude.ai y luego se migró a hosting propio en Vercel, con backend seguro.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enfoque giró de pedagógico (ocho etapas guiadas) a herramienta de investigador, sin perder el recorrido guiado como opción.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giro respondió a algo observado usando la app, no a una decisión de escritorio.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394960"/>
            <a:ext cx="10545775" cy="914400"/>
          </a:xfrm>
          <a:prstGeom prst="roundRect">
            <a:avLst>
              <a:gd name="adj" fmla="val 6000"/>
            </a:avLst>
          </a:prstGeom>
          <a:solidFill>
            <a:srgbClr val="EAF3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539496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proceso   </a:t>
            </a: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carácter iterativo es parte del resultado: la herramienta mejoró escuchando su propio uso, y ese registro es material valioso para una publicación sobre el método.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 de construcción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A9D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59" y="1984479"/>
            <a:ext cx="105457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20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A, completa</a:t>
            </a:r>
            <a:endParaRPr lang="en-US" sz="2000" dirty="0"/>
          </a:p>
          <a:p>
            <a:pPr marL="0" lvl="1" indent="0" algn="l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búsqueda enriquecido con señales de calidad y ajuste, y la Matriz de Decisión como función estrella.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20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B, completa</a:t>
            </a:r>
            <a:endParaRPr lang="en-US" sz="2000" dirty="0"/>
          </a:p>
          <a:p>
            <a:pPr marL="0" lvl="1" indent="0" algn="l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trazable de consenso, contradicción y brecha, e informe de evidencia exportable.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20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C, en producción</a:t>
            </a:r>
            <a:endParaRPr lang="en-US" sz="2000" dirty="0"/>
          </a:p>
          <a:p>
            <a:pPr marL="0" lvl="1" indent="0" algn="l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comparativa, borradores citados por sección y estilos de cita (APA, ACS, Vancouver), desplegados el 18 de julio de 2026.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20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D, primera pasada hecha</a:t>
            </a:r>
            <a:endParaRPr lang="en-US" sz="2000" dirty="0"/>
          </a:p>
          <a:p>
            <a:pPr marL="0" lvl="1" indent="0" algn="l">
              <a:lnSpc>
                <a:spcPct val="114000"/>
              </a:lnSpc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de lenguaje verificada; falta desplegarla y una relectura humana antes del congreso.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394960"/>
            <a:ext cx="10545775" cy="914400"/>
          </a:xfrm>
          <a:prstGeom prst="roundRect">
            <a:avLst>
              <a:gd name="adj" fmla="val 6000"/>
            </a:avLst>
          </a:prstGeom>
          <a:solidFill>
            <a:srgbClr val="FCE8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539496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C15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  </a:t>
            </a:r>
            <a:r>
              <a:rPr lang="en-US" sz="2000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al cierre de esta </a:t>
            </a:r>
            <a:r>
              <a:rPr lang="en-US" sz="2000" dirty="0" err="1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</a:t>
            </a:r>
            <a:r>
              <a:rPr lang="en-US" sz="2000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(24 de julio de 2026): Fase C ya en producción, Fase D verificada y pendiente de </a:t>
            </a:r>
            <a:r>
              <a:rPr lang="en-US" sz="2000" dirty="0" err="1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desplegar</a:t>
            </a:r>
            <a:r>
              <a:rPr lang="en-US" sz="2000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10712"/>
            <a:ext cx="12191695" cy="36576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A9D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basta con que el código se vea bien: hay que ejercitar el flujo real y observar el resultado.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VALIDA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Verificación en varios niveles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A9D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59" y="2194560"/>
            <a:ext cx="105457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y contratos: revisión de cada función serverless y del JavaScript de la app antes de desplegar.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real en navegador: recorrido completo del modo investigador con un navegador automatizado, con llamadas reales al backend.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Endpoints: pruebas directas de las funciones, incluyendo sus errores esperados.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por etapas: primero a un entorno de vista previa, se valida, y solo entonces se promueve a producción.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394960"/>
            <a:ext cx="10545775" cy="914400"/>
          </a:xfrm>
          <a:prstGeom prst="roundRect">
            <a:avLst>
              <a:gd name="adj" fmla="val 6000"/>
            </a:avLst>
          </a:prstGeom>
          <a:solidFill>
            <a:srgbClr val="EAF3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5394960"/>
            <a:ext cx="103171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de curaduría   </a:t>
            </a: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corpus del caso Plectranthus, la curaduría automatizada coincidió en 91.3% con la extracción manual de variables. Los errores se concentraron en conversión de unidades y en rangos leídos como valores puntuales.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ENCONTRÓ LA VALIDACIÓN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validación que sí atrapa cosas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A9D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7527" y="2148840"/>
            <a:ext cx="105457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recorrido real en producción reveló que un paso podía truncar su respuesta y mostrar texto incompleto; se corrigió con un tope de tamaño adecuado y un control explícito, y se volvió a verificar.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síntesis demostró ser honesta sobre lo que el corpus no resuelve, en vez de sonar segura sin evidencia.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extracción desde PDF se probó con un artículo con texto real y con un PDF sin texto: el segundo se detiene limpio, sin gastar una llamada a la IA.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394960"/>
            <a:ext cx="10545775" cy="914400"/>
          </a:xfrm>
          <a:prstGeom prst="roundRect">
            <a:avLst>
              <a:gd name="adj" fmla="val 6000"/>
            </a:avLst>
          </a:prstGeom>
          <a:solidFill>
            <a:srgbClr val="FCE8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5394960"/>
            <a:ext cx="103017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C15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  </a:t>
            </a:r>
            <a:r>
              <a:rPr lang="en-US" sz="2000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 en frío con un </a:t>
            </a:r>
            <a:r>
              <a:rPr lang="en-US" sz="2000" dirty="0" err="1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r>
              <a:rPr lang="en-US" sz="2000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sin guía, no se completó a tiempo para esta presentación. Queda como la validación más importante, diferida al próximo ciclo.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10712"/>
            <a:ext cx="12191695" cy="36576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A9D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y fortalezas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funcionaba al inicio, cómo se abordó, y lo que finalmente distingue a la herramienta.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INICIALES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limitación a la respuesta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A9D6E5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233343"/>
              </p:ext>
            </p:extLst>
          </p:nvPr>
        </p:nvGraphicFramePr>
        <p:xfrm>
          <a:off x="822960" y="2148840"/>
          <a:ext cx="10545776" cy="3657600"/>
        </p:xfrm>
        <a:graphic>
          <a:graphicData uri="http://schemas.openxmlformats.org/drawingml/2006/table">
            <a:tbl>
              <a:tblPr/>
              <a:tblGrid>
                <a:gridCol w="44292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Limitación inicial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se abordó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Bases pagadas (Scopus, Web of Science) no integradas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prioriza cobertura abierta; y se gestiona colaboración con el Sistema de Bibliotecas UPR para acceso institucional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Artículos de acceso cerrado quedaban invisibles en la práctica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Señal explícita de acceso cerrado, con recomendación de conseguir el artículo manualmente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PDF propio entraba mudo al análisis, sin resumen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Subir el PDF y extraer título, autores, año y resumen para que participe igual que una fuente encontrada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Respuestas de IA que podían truncarse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Topes de tamaño por tarea y un control que falla limpio en vez de mostrar texto incompleto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validación con un usuario real todavía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Identificada como la validación más importante; no se completó a tiempo para esta presentación, queda diferida al próximo ciclo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finalmente distingue a la herramienta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A9D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105457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Anclaje en evidencia real: nunca inventa citas, una falla común de otras herramientas de IA.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 sobre las brechas: distingue lo que el corpus no resuelve de lo que no existe en la literatura.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Trazabilidad: cada criterio y cada hallazgo enlazan a las fuentes reales que los sostienen.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Juicio humano en el centro: la IA propone, el investigador decide y confirma.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Accesible: corre en el teléfono, por un QR, sin instalar nada.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394960"/>
            <a:ext cx="10545775" cy="914400"/>
          </a:xfrm>
          <a:prstGeom prst="roundRect">
            <a:avLst>
              <a:gd name="adj" fmla="val 6000"/>
            </a:avLst>
          </a:prstGeom>
          <a:solidFill>
            <a:srgbClr val="EAF3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539496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  </a:t>
            </a: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núcleo de valor no es el QR ni la organización de pasos, sino el paso de literatura real a comprensión comparativa y decisiones científicas utilizables.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10712"/>
            <a:ext cx="12191695" cy="36576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A9D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Hacia una publicación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diferenciación que sostiene el proyecto, el trabajo futuro y lo que deja como aporte generalizable.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un buscador de papers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A9D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57" y="19659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de descubrimiento (Elicit y similares) ayudan a encontrar y extraer literatura. Biblioteca Viva apunta a algo distinto y más duradero: mantener honesta tu pregunta de investigación a lo largo del tiempo.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56" y="3154680"/>
            <a:ext cx="105457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Reexaminar la validez de la pregunta a medida que se acumula la literatura y a medida que llegan tus propios resultados.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encontrar fuentes: señalar posibles huecos teóricos, metodológicos y éticos que dificulten publicar. Fin último, un trabajo sólido y defendible.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señal anclada a evidencia real o a una ausencia declarada, nunca inventada; lo ético como preguntas a considerar, no veredictos.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5613722"/>
            <a:ext cx="10545775" cy="914400"/>
          </a:xfrm>
          <a:prstGeom prst="roundRect">
            <a:avLst>
              <a:gd name="adj" fmla="val 6000"/>
            </a:avLst>
          </a:prstGeom>
          <a:solidFill>
            <a:srgbClr val="FCE8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553212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C15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  </a:t>
            </a:r>
            <a:r>
              <a:rPr lang="en-US" sz="2000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insumo de "tus propios resultados" y la auditoría de defendibilidad ya están construidos y </a:t>
            </a:r>
            <a:r>
              <a:rPr lang="en-US" sz="2000" dirty="0" err="1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verificados</a:t>
            </a:r>
            <a:r>
              <a:rPr lang="en-US" sz="2000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(24 de julio de 2026); falta aprobación visual y despliegue.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SIGUE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futuro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A9D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105457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estructurada de variables experimentales cuantitativas (solvente, método, rendimiento), la meta central del semestre.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 institucional con el Sistema de Bibliotecas UPR para acceso legítimo a bases pagadas.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 de publicación más completas: tabla comparativa y borradores citados por sección, en estilos de cita estándar.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la herramienta a otras disciplinas más allá del caso de química.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394960"/>
            <a:ext cx="10545775" cy="914400"/>
          </a:xfrm>
          <a:prstGeom prst="roundRect">
            <a:avLst>
              <a:gd name="adj" fmla="val 6000"/>
            </a:avLst>
          </a:prstGeom>
          <a:solidFill>
            <a:srgbClr val="FCE8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539496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C15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  </a:t>
            </a:r>
            <a:r>
              <a:rPr lang="en-US" sz="2000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sede o revista de la publicación metodológica queda por definir; es trabajo posterior al congreso, no bloquea esta presentación.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GENERALIZABLE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Lecciones para apps de IA en investigación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A9D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del caso, el proceso deja principios que podrían guiar otras herramientas de IA para la investigación científica.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290682"/>
            <a:ext cx="10545775" cy="2874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Anclaje obligatorio: la IA comenta evidencia real, no la genera; esto se diseña, no se asume.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 en el centro: la herramienta propone borradores auditables, el investigador decide.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 uso real: la prueba decisiva no es que el código pase, sino que a alguien le sirva sin guía.</a:t>
            </a:r>
            <a:endParaRPr lang="en-US" sz="2000" dirty="0"/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el proceso mientras ocurre: el registro del desarrollo es en sí mismo un resultado publicable.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Biblioteca Viva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371600" y="2697191"/>
            <a:ext cx="94484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literatura real a decisiones científicas trazables, con la IA como asistente y el investigador como autor.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724248" y="3840480"/>
            <a:ext cx="274320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4206529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EugenIA Lab  ·  CIFI 4996  ·  Departamento de Ciencias Físicas</a:t>
            </a:r>
            <a:endParaRPr lang="en-US" sz="2000" dirty="0"/>
          </a:p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Estudios Generales, Universidad de Puerto Rico, Recinto de Río Piedras</a:t>
            </a:r>
            <a:endParaRPr lang="en-US" sz="2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Agradecimientos: UPR-Río Piedras y Sección de Puerto Rico de la American Chemical Society (ACS)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2511</Words>
  <Application>Microsoft Office PowerPoint</Application>
  <PresentationFormat>Widescreen</PresentationFormat>
  <Paragraphs>241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EugenIA Lab, Departamento de Ciencias Físicas, UPR-Río Piedras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Biblioteca Viva: desarrollo de una herramienta agentic de IA para la investigación científica</dc:title>
  <dc:subject>PptxGenJS Presentation</dc:subject>
  <dc:creator>EugenIA Lab</dc:creator>
  <cp:lastModifiedBy>MANUEL REYES GUZMAN</cp:lastModifiedBy>
  <cp:revision>2</cp:revision>
  <dcterms:created xsi:type="dcterms:W3CDTF">2026-07-24T21:49:43Z</dcterms:created>
  <dcterms:modified xsi:type="dcterms:W3CDTF">2026-07-24T22:13:45Z</dcterms:modified>
</cp:coreProperties>
</file>