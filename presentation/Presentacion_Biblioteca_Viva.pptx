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VIVA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una herramienta agentic de IA para la investigación científica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724248" y="3566160"/>
            <a:ext cx="2743200" cy="0"/>
          </a:xfrm>
          <a:prstGeom prst="line">
            <a:avLst/>
          </a:prstGeom>
          <a:noFill/>
          <a:ln w="19050">
            <a:solidFill>
              <a:srgbClr val="5B8C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74904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corpus bibliográfico a la decisión experimental: motor de evidencia, Matriz de Decisión y validación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Reyes Guzmán, Ph.D. (investigador principal)  ·  Kamila López Díaz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EugenIA Lab, Departamento de Ciencias Físicas (CIFI 4996), Facultad de Estudios Generales, UPR-Río Piedras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vivo del proceso de desarrollo  ·  versión de trabajo, julio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qué trata esta ponencia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es una aplicación web agentic que ayuda a un investigador a encontrar la evidencia que mejor sostiene cada parte de su trabajo y a traducirla en criterios de decisión concretos. Esta ponencia documenta su desarrollo, no solo su producto final.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4577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qué problema resuelve en el flujo real de la investigación.</a:t>
            </a:r>
            <a:endParaRPr lang="en-US" sz="16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construida: arquitectura, principios de diseño y el uso responsable de IA.</a:t>
            </a:r>
            <a:endParaRPr lang="en-US" sz="16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desarrolló, de forma iterativa, y cómo se validó en cada paso.</a:t>
            </a:r>
            <a:endParaRPr lang="en-US" sz="16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limitaciones iniciales tenía y qué fortalezas se lograron integrar.</a:t>
            </a:r>
            <a:endParaRPr lang="en-US" sz="165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lecciones deja para desarrollar herramientas de IA para la investigación científica.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la motivación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hace falta una herramienta como esta, y en qué contexto nace.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 literatura, pocas decisiones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 es un problema real de EugenIA Lab, programa de experiencias investigativas subgraduadas (CIFI 4996) cuyo proyecto fundacional estudia Plectranthus amboinicus, el orégano brujo.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literatura científica está dispersa y usa metodologías heterogéneas entre estudios.</a:t>
            </a:r>
            <a:endParaRPr lang="en-US" sz="17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búsqueda puntual encuentra artículos, pero no los convierte en criterios para el próximo experimento.</a:t>
            </a:r>
            <a:endParaRPr lang="en-US" sz="17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vínculo entre composición, bioactividad y aplicación suele quedar débil en la literatura existente.</a:t>
            </a:r>
            <a:endParaRPr lang="en-US" sz="170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7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un instrumento que sostenga el ciclo completo: de la literatura a la decisión experimental.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1F6E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bibliometría no como fin descriptivo, sino como instrumento de decisión. El nombre EugenIA honra a Eugene Garfield, fundador de la bibliometría moderna.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Biblioteca Viva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evidencia, la Matriz de Decisión y el principio que gobierna el uso de IA.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herramienta, dos formas de entrar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igual para empezar un proyecto o para reforzar uno en curso. El investigador escoge según lo que ya tiene, y ambos caminos llegan al mismo motor de evidencia.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16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investigador</a:t>
            </a:r>
            <a:endParaRPr lang="en-US" sz="1650" dirty="0"/>
          </a:p>
          <a:p>
            <a:pPr algn="l" lvl="1"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ya tiene una pregunta, propuesta o abstract. Entra con su material y va directo a la evidencia y las decisiones.</a:t>
            </a:r>
            <a:endParaRPr lang="en-US" sz="1650" dirty="0"/>
          </a:p>
          <a:p>
            <a:pPr algn="l" marL="342900" indent="-3429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16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guiado</a:t>
            </a:r>
            <a:endParaRPr lang="en-US" sz="1650" dirty="0"/>
          </a:p>
          <a:p>
            <a:pPr algn="l" lvl="1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todavía define su investigación. La IA ayuda a construir la fricción conceptual, la pregunta y los objetivos.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1F6E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que corre en el navegador del teléfono, accesible por un código QR. No requiere instalar nada ni crear cuenta; el progreso se guarda en el propio dispositivo.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 evidencia y la MDE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artículos reales por cada componente del trabajo, en bases bibliográficas abiertas.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fuente se anota con su aporte a la investigación y su ajuste al componente (directo, parcial o tangencial).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Decisión (MDE): traduce la evidencia aceptada en dimensiones de decisión con criterios concretos.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trazable: consensos, contradicciones y brechas del corpus, cada hallazgo ligado a sus fuentes.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evidencia exportable, que reúne foco, síntesis, MDE y bibliografía.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1F6E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confianza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nunca inventa citas. Todos los artículos provienen siempre de las bases de datos, nunca del modelo; la IA solo comenta fuentes que existen de verdad.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DE DISEÑO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IA propone, el investigador decide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curaduría crítica y las decisiones científicas no se delegan a un atajo automático. La IA genera borradores; el investigador los revisa, edita y confirma. Nada se guarda de forma silenciosa.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Reenfoque: la IA propone un foco reformulado desde los artículos aceptados; el investigador lo adopta o conserva el original.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lectura: sugerencia editable a partir del resumen real, nunca una ficha cerrada guardada sola.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 PDF propio: la extracción prellena los campos, pero la referencia solo se añade cuando el investigador confirma.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1F6E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principio es tanto metodológico como ético: mantiene el juicio científico en manos del investigador y hace auditable cada paso de la evidencia a la decisión.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técnica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construida, y por qué esas decisiones sostienen el uso responsable de IA.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frontend liviano y un backend seguro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separa lo que ve el usuario de la clave de IA, que nunca llega al navegador. El backend actúa de proxy seguro y de motor de búsqueda.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E8F0D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2396414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 + JS, sin build)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1086" y="31546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39414" y="315468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8A5A2B"/>
          </a:solidFill>
          <a:ln/>
        </p:spPr>
      </p:sp>
      <p:sp>
        <p:nvSpPr>
          <p:cNvPr id="11" name="Text 9"/>
          <p:cNvSpPr/>
          <p:nvPr/>
        </p:nvSpPr>
        <p:spPr>
          <a:xfrm>
            <a:off x="3539414" y="3154680"/>
            <a:ext cx="2396414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serverless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/api/generate, /api/search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17540" y="31546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55868" y="315468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E8F0DF"/>
          </a:solidFill>
          <a:ln/>
        </p:spPr>
      </p:sp>
      <p:sp>
        <p:nvSpPr>
          <p:cNvPr id="14" name="Text 12"/>
          <p:cNvSpPr/>
          <p:nvPr/>
        </p:nvSpPr>
        <p:spPr>
          <a:xfrm>
            <a:off x="6255868" y="3154680"/>
            <a:ext cx="2396414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(proxy seguro de la clave)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33993" y="31546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72321" y="315468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E8F0DF"/>
          </a:solidFill>
          <a:ln/>
        </p:spPr>
      </p:sp>
      <p:sp>
        <p:nvSpPr>
          <p:cNvPr id="17" name="Text 15"/>
          <p:cNvSpPr/>
          <p:nvPr/>
        </p:nvSpPr>
        <p:spPr>
          <a:xfrm>
            <a:off x="8972321" y="3154680"/>
            <a:ext cx="2396414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bibliográficas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OpenAlex, Europe PMC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vanilla JS de una sola página, con persistencia local; sin paso de compilación.</a:t>
            </a:r>
            <a:endParaRPr lang="en-US" sz="15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Vercel: la clave de IA vive solo en el servidor, como variable de entorno.</a:t>
            </a:r>
            <a:endParaRPr lang="en-US" sz="150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estructuradas (JSON por esquema) que garantizan respuestas válidas sin limpiar texto a mano.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POR DENTRO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 especializadas, no un chat abierto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no puede pedir cualquier cosa a la IA: solo puede invocar tareas definidas, con datos estructurados. Así la clave no queda expuesta como un chat libre para cualquiera que escanee el QR.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Formulación: fricción conceptual, pregunta y objetivos, componentes del trabajo.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búsqueda anotada, Matriz de Decisión, síntesis, reenfoque.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salida: notas de lectura, extracción de referencia desde PDF, estructura de divulgación.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entrega datos con un esquema fijo, con topes de tamaño y de costo por llamada.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1F6E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 Claude Sonnet, configurable por variable de entorno. Balance de calidad, costo y latencia para una app pública en el teléfono.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de desarrollo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que no salió de una sola idea, sino de varias iteraciones sobre evidencia real de uso.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evolucionó el concepto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póster pasó de mostrar solo resultados fitoquímicos a organizarse alrededor de un framework, y finalmente alrededor de EugenIA Lab y la MDE como protagonista.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nació como artefacto de Claude.ai y luego se migró a hosting propio en Vercel, con backend seguro.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giró de pedagógico (ocho etapas guiadas) a herramienta de investigador, sin perder el recorrido guiado como opción.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giro respondió a algo observado usando la app, no a una decisión de escritorio.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1F6E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carácter iterativo es parte del resultado: la herramienta mejoró escuchando su propio uso, y ese registro es material valioso para una publicación sobre el método.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 construcción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A, completa</a:t>
            </a:r>
            <a:endParaRPr lang="en-US" sz="1450" dirty="0"/>
          </a:p>
          <a:p>
            <a:pPr algn="l" lvl="1"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búsqueda enriquecido con señales de calidad y ajuste, y la Matriz de Decisión como función estrella.</a:t>
            </a:r>
            <a:endParaRPr lang="en-US" sz="1450" dirty="0"/>
          </a:p>
          <a:p>
            <a:pPr algn="l" marL="342900" indent="-3429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B, completa</a:t>
            </a:r>
            <a:endParaRPr lang="en-US" sz="1450" dirty="0"/>
          </a:p>
          <a:p>
            <a:pPr algn="l" lvl="1"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trazable de consenso, contradicción y brecha, e informe de evidencia exportable.</a:t>
            </a:r>
            <a:endParaRPr lang="en-US" sz="1450" dirty="0"/>
          </a:p>
          <a:p>
            <a:pPr algn="l" marL="342900" indent="-3429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C, en curso</a:t>
            </a:r>
            <a:endParaRPr lang="en-US" sz="1450" dirty="0"/>
          </a:p>
          <a:p>
            <a:pPr algn="l" lvl="1"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orientadas a publicación: tabla comparativa y borradores citados de justificación, métodos y discusión.</a:t>
            </a:r>
            <a:endParaRPr lang="en-US" sz="1450" dirty="0"/>
          </a:p>
          <a:p>
            <a:pPr algn="l" marL="342900" indent="-3429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D, pendiente</a:t>
            </a:r>
            <a:endParaRPr lang="en-US" sz="1450" dirty="0"/>
          </a:p>
          <a:p>
            <a:pPr algn="l" lvl="1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Pulido de lenguaje y consistencia en toda la app.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0E4D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 estado de las fases C y D a medida que avancen; hoy la versión desplegada llega hasta el informe de evidencia inicial.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que el código se vea bien: hay que ejercitar el flujo real y observar el resultado.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VALIDA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en varios niveles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contratos: revisión de cada función serverless y del JavaScript de la app antes de desplegar.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real en navegador: recorrido completo del modo investigador con un navegador automatizado, con llamadas reales al backend.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pruebas directas de las funciones, incluyendo sus errores esperados.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por etapas: primero a un entorno de vista previa, se valida, y solo entonces se promueve a producción.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1F6E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de curaduría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corpus del caso Plectranthus, la curaduría automatizada coincidió en 91.3% con la extracción manual de variables. Los errores se concentraron en conversión de unidades y en rangos leídos como valores puntuales.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ENCONTRÓ LA VALIDACIÓN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validación que sí atrapa cosas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real en producción reveló que un paso podía truncar su respuesta y mostrar texto incompleto; se corrigió con un tope de tamaño adecuado y un control explícito, y se volvió a verificar.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síntesis demostró ser honesta sobre lo que el corpus no resuelve, en vez de sonar segura sin evidencia.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extracción desde PDF se probó con un artículo con texto real y con un PDF sin texto: el segundo se detiene limpio, sin gastar una llamada a la IA.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0E4D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la validación más importante: una prueba en frío con una estudiante usando la app sola, sin guía, para ver qué logra y dónde se pierde. Incluir aquí esos resultados cuando existan.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fortalezas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funcionaba al inicio, cómo se abordó, y lo que finalmente distingue a la herramienta.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INICIALES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limitación a la respuesta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36576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Limitación inicial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abordó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C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Bases pagadas (Scopus, Web of Science) no integradas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prioriza cobertura abierta; y se gestiona colaboración con el Sistema de Bibliotecas UPR para acceso institucional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Artículos de acceso cerrado quedaban invisibles en la práctica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explícita de acceso cerrado, con recomendación de conseguir el artículo manualmente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PDF propio entraba mudo al análisis, sin resumen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el PDF y extraer título, autores, año y resumen para que participe igual que una fuente encontrada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Respuestas de IA que podían truncarse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Topes de tamaño por tarea y un control que falla limpio en vez de mostrar texto incompleto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validación con un usuario real todavía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en frío con una estudiante, como validación pendiente y prioritaria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finalmente distingue a la herramienta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Anclaje en evidencia real: nunca inventa citas, una falla común de otras herramientas de IA.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sobre las brechas: distingue lo que el corpus no resuelve de lo que no existe en la literatura.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cada criterio y cada hallazgo enlazan a las fuentes reales que los sostienen.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humano en el centro: la IA propone, el investigador decide y confirma.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Accesible: corre en el teléfono, por un QR, sin instalar nada.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1F6E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de valor no es el QR ni la organización de pasos, sino el paso de literatura real a comprensión comparativa y decisiones científicas utilizables.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una publicación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diferenciación que sostiene el proyecto, el trabajo futuro y lo que deja como aporte generalizable.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buscador de papers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 descubrimiento (Elicit y similares) ayudan a encontrar y extraer literatura. Biblioteca Viva apunta a algo distinto y más duradero: mantener honesta tu pregunta de investigación a lo largo del tiempo.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05457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Reexaminar la validez de la pregunta a medida que se acumula la literatura y a medida que llegan tus propios resultados.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encontrar fuentes: señalar posibles huecos teóricos, metodológicos y éticos que dificulten publicar. Fin último, un trabajo sólido y defendible.</a:t>
            </a:r>
            <a:endParaRPr lang="en-US" sz="155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5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señal anclada a evidencia real o a una ausencia declarada, nunca inventada; lo ético como preguntas a considerar, no veredictos.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0E4D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insumo de "tus propios resultados" y la auditoría de defendibilidad por dimensiones son la dirección en construcción; hoy existen sus semillas en la síntesis y el reenfoque.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 de variables experimentales cuantitativas (solvente, método, rendimiento), la meta central del semestre.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institucional con el Sistema de Bibliotecas UPR para acceso legítimo a bases pagadas.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de publicación más completas: tabla comparativa y borradores citados por sección, en estilos de cita estándar.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la herramienta a otras disciplinas más allá del caso de química.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F0E4D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949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 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sede o revista de la publicación metodológica sobre desarrollo de apps de IA para la investigación, y ajustar el enfoque de esta ponencia a esa audiencia.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GENERALIZABLE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para apps de IA en investigación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0545775" cy="0"/>
          </a:xfrm>
          <a:prstGeom prst="line">
            <a:avLst/>
          </a:prstGeom>
          <a:noFill/>
          <a:ln w="19050">
            <a:solidFill>
              <a:srgbClr val="BF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caso, el proceso deja principios que podrían guiar otras herramientas de IA para la investigación científica.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54577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Anclaje obligatorio: la IA comenta evidencia real, no la genera; esto se diseña, no se asume.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en el centro: la herramienta propone borradores auditables, el investigador decide.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uso real: la prueba decisiva no es que el código pase, sino que a alguien le sirva sin guía.</a:t>
            </a:r>
            <a:endParaRPr lang="en-US" sz="1600" dirty="0"/>
          </a:p>
          <a:p>
            <a:pPr algn="l" marL="342900" indent="-342900">
              <a:lnSpc>
                <a:spcPct val="114000"/>
              </a:lnSpc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mientras ocurre: el registro del desarrollo es en sí mismo un resultado publicable.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Viva  ·  EugenIA Lab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Viva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literatura real a decisiones científicas trazables, con la IA como asistente y el investigador como autor.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4248" y="3840480"/>
            <a:ext cx="2743200" cy="0"/>
          </a:xfrm>
          <a:prstGeom prst="line">
            <a:avLst/>
          </a:prstGeom>
          <a:noFill/>
          <a:ln w="19050">
            <a:solidFill>
              <a:srgbClr val="5B8C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EugenIA Lab  ·  CIFI 4996  ·  Departamento de Ciencias Físicas</a:t>
            </a:r>
            <a:endParaRPr lang="en-US" sz="1350" dirty="0"/>
          </a:p>
          <a:p>
            <a:pPr algn="ctr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Estudios Generales, Universidad de Puerto Rico, Recinto de Río Piedras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Agradecimientos: UPR-Río Piedras y Sección de Puerto Rico de la American Chemical Society (ACS)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EugenIA Lab, Departamento de Ciencias Físicas, UPR-Río Piedras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Biblioteca Viva: desarrollo de una herramienta agentic de IA para la investigación científica</dc:title>
  <dc:subject>PptxGenJS Presentation</dc:subject>
  <dc:creator>EugenIA Lab</dc:creator>
  <cp:lastModifiedBy>EugenIA Lab</cp:lastModifiedBy>
  <cp:revision>1</cp:revision>
  <dcterms:created xsi:type="dcterms:W3CDTF">2026-07-13T14:03:12Z</dcterms:created>
  <dcterms:modified xsi:type="dcterms:W3CDTF">2026-07-13T14:03:12Z</dcterms:modified>
</cp:coreProperties>
</file>