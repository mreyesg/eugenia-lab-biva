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0233600" cy="54864000"/>
  <p:notesSz cx="54864000" cy="4023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0" cy="8138160"/>
          </a:xfrm>
          <a:prstGeom prst="rect">
            <a:avLst/>
          </a:prstGeom>
          <a:solidFill>
            <a:srgbClr val="1F462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20040"/>
            <a:ext cx="3840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EugenIA Lab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828800" y="1737360"/>
            <a:ext cx="3657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BF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 bibliométrico asistido por IA que transforma la literatura científica en una infraestructura operativa de decisión experimental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3840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optimización de solventes en estudios analgésicos de Plectranthus amboinicus (orégano brujo)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611880"/>
            <a:ext cx="12618720" cy="1051560"/>
          </a:xfrm>
          <a:prstGeom prst="roundRect">
            <a:avLst>
              <a:gd name="adj" fmla="val 5217"/>
            </a:avLst>
          </a:prstGeom>
          <a:solidFill>
            <a:srgbClr val="2E5C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11880"/>
            <a:ext cx="126187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Senior Technical Meeting (PUCPR, Ponce)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0" y="361188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807440" y="3611880"/>
            <a:ext cx="12618720" cy="1051560"/>
          </a:xfrm>
          <a:prstGeom prst="roundRect">
            <a:avLst>
              <a:gd name="adj" fmla="val 5217"/>
            </a:avLst>
          </a:prstGeom>
          <a:solidFill>
            <a:srgbClr val="2E5C33"/>
          </a:solidFill>
          <a:ln/>
        </p:spPr>
      </p:sp>
      <p:sp>
        <p:nvSpPr>
          <p:cNvPr id="10" name="Text 8"/>
          <p:cNvSpPr/>
          <p:nvPr/>
        </p:nvSpPr>
        <p:spPr>
          <a:xfrm>
            <a:off x="13807440" y="3611880"/>
            <a:ext cx="126187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II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Congreso de Investigación Estudiantil (UAGM)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426160" y="361188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700480" y="3611880"/>
            <a:ext cx="12618720" cy="1051560"/>
          </a:xfrm>
          <a:prstGeom prst="roundRect">
            <a:avLst>
              <a:gd name="adj" fmla="val 5217"/>
            </a:avLst>
          </a:prstGeom>
          <a:solidFill>
            <a:srgbClr val="5B8C3E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0" y="3611880"/>
            <a:ext cx="126187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III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Junior Technical Meeting (UPR-Río Piedras)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3840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Kamila López Díaz  |  Manuel Reyes Guzmán, Ph.D. (investigador principal)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EugenIA Lab, Departamento de Ciencias Físicas (CIFI 4996), Facultad de Estudios Generales, UPR-Río Piedras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806440"/>
            <a:ext cx="3840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honra a Eugene Garfield, fundador de la bibliometría moderna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8549640"/>
            <a:ext cx="3840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10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LITERATURA A LA DECISIÓN EXPERIMENTAL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" y="9098280"/>
            <a:ext cx="7498080" cy="1737360"/>
          </a:xfrm>
          <a:prstGeom prst="roundRect">
            <a:avLst>
              <a:gd name="adj" fmla="val 4737"/>
            </a:avLst>
          </a:prstGeom>
          <a:solidFill>
            <a:srgbClr val="E8F0D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098280"/>
            <a:ext cx="749808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científica (PDFs)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5048" y="909828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41080" y="9098280"/>
            <a:ext cx="7498080" cy="1737360"/>
          </a:xfrm>
          <a:prstGeom prst="roundRect">
            <a:avLst>
              <a:gd name="adj" fmla="val 4737"/>
            </a:avLst>
          </a:prstGeom>
          <a:solidFill>
            <a:srgbClr val="E8F0DF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9098280"/>
            <a:ext cx="749808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automatizada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111728" y="909828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6367760" y="9098280"/>
            <a:ext cx="7498080" cy="1737360"/>
          </a:xfrm>
          <a:prstGeom prst="roundRect">
            <a:avLst>
              <a:gd name="adj" fmla="val 4737"/>
            </a:avLst>
          </a:prstGeom>
          <a:solidFill>
            <a:srgbClr val="E8F0DF"/>
          </a:solidFill>
          <a:ln/>
        </p:spPr>
      </p:sp>
      <p:sp>
        <p:nvSpPr>
          <p:cNvPr id="24" name="Text 22"/>
          <p:cNvSpPr/>
          <p:nvPr/>
        </p:nvSpPr>
        <p:spPr>
          <a:xfrm>
            <a:off x="16367760" y="9098280"/>
            <a:ext cx="749808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 de variables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838408" y="909828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4094440" y="9098280"/>
            <a:ext cx="7498080" cy="1737360"/>
          </a:xfrm>
          <a:prstGeom prst="roundRect">
            <a:avLst>
              <a:gd name="adj" fmla="val 4737"/>
            </a:avLst>
          </a:prstGeom>
          <a:solidFill>
            <a:srgbClr val="8A5A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094440" y="9098280"/>
            <a:ext cx="749808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(MDE)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1565088" y="909828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8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1821120" y="9098280"/>
            <a:ext cx="7498080" cy="1737360"/>
          </a:xfrm>
          <a:prstGeom prst="roundRect">
            <a:avLst>
              <a:gd name="adj" fmla="val 4737"/>
            </a:avLst>
          </a:prstGeom>
          <a:solidFill>
            <a:srgbClr val="E8F0DF"/>
          </a:solidFill>
          <a:ln/>
        </p:spPr>
      </p:sp>
      <p:sp>
        <p:nvSpPr>
          <p:cNvPr id="30" name="Text 28"/>
          <p:cNvSpPr/>
          <p:nvPr/>
        </p:nvSpPr>
        <p:spPr>
          <a:xfrm>
            <a:off x="31821120" y="9098280"/>
            <a:ext cx="7498080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experimental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114300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EUGENIA LAB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914400" y="12344400"/>
            <a:ext cx="9258300" cy="200482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234440" y="12664440"/>
            <a:ext cx="8618220" cy="1940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EugenIA Lab es un programa de experiencias investigativas subgraduadas del Departamento de Ciencias Físicas (curso CIFI 4996), fundado por el Prof. Manuel Reyes Guzmán. Su nombre honra a Eugene Garfield, fundador de la bibliometría moderna.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proyecto fundacional estudia las propiedades fitoquímicas y el potencial biológico de Plectranthus amboinicus, documentado en tres presentaciones estudiantiles sucesivas (Fases I a III, ver franja superior). La matrícula de Kamila para agosto-diciembre 2026 es continuación directa de esa trayectoria.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328041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PROPUESTA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4400" y="33718500"/>
            <a:ext cx="9258300" cy="195910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34440" y="34038540"/>
            <a:ext cx="8618220" cy="1895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Demasiada literatura dispersa sobre P. amboinicus, con metodologías heterogéneas entre estudios.</a:t>
            </a:r>
            <a:endParaRPr lang="en-US" sz="1600" dirty="0"/>
          </a:p>
          <a:p>
            <a:pPr algn="l"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instrumento que las oriente, las decisiones experimentales carecen de dirección clara.</a:t>
            </a:r>
            <a:endParaRPr lang="en-US" sz="1600" dirty="0"/>
          </a:p>
          <a:p>
            <a:pPr algn="l"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Propuesta: la bibliometría como instrumento de decisión, siguiendo la lógica literatura, estrategia, experimento.</a:t>
            </a:r>
            <a:endParaRPr lang="en-US" sz="16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una búsqueda puntual de literatura, EugenIA sostiene el ciclo completo hasta un artefacto operativo: la Matriz de Decisión Experimental (MDE).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629900" y="114300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CAPACIDADES ACTUALES DEL PIPELINE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0629900" y="12344400"/>
            <a:ext cx="9258300" cy="200482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949940" y="12664440"/>
            <a:ext cx="8618220" cy="1940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simultánea en múltiples bases: PubMed, OpenAlex, CrossRef, Scopus y Web of Science.</a:t>
            </a:r>
            <a:endParaRPr lang="en-US" sz="1600" dirty="0"/>
          </a:p>
          <a:p>
            <a:pPr algn="l"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 de registros por DOI y título normalizado.</a:t>
            </a:r>
            <a:endParaRPr lang="en-US" sz="1600" dirty="0"/>
          </a:p>
          <a:p>
            <a:pPr algn="l"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 con enlaces de acceso abierto vía Unpaywall.</a:t>
            </a:r>
            <a:endParaRPr lang="en-US" sz="1600" dirty="0"/>
          </a:p>
          <a:p>
            <a:pPr algn="l"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y validación rigurosa de PDFs mediante PyMuPDF.</a:t>
            </a:r>
            <a:endParaRPr lang="en-US" sz="16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archivos CSV de metadatos organizados por proyecto.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29900" y="328041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 QUE CIERRA ESTE SEMESTRE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10629900" y="33718500"/>
            <a:ext cx="9258300" cy="195910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0949940" y="34038540"/>
            <a:ext cx="8618220" cy="1721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extracción estructurada de variables experimentales (solvente, método, rendimiento, TPC, IC₅₀/DPPH, condiciones) reside hoy en un asistente GPT separado, no integrado al pipeline principal.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del semestre agosto-diciembre 2026 es incorporar esa función directamente a EugenIA, completando el ciclo hasta la MDE. Kamila participa en el diseño de prompts, pruebas, documentación y validación del nuevo módulo; la integración técnica de mayor complejidad la supervisa el investigador principal.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949940" y="51572160"/>
            <a:ext cx="8618220" cy="1417320"/>
          </a:xfrm>
          <a:prstGeom prst="roundRect">
            <a:avLst>
              <a:gd name="adj" fmla="val 4516"/>
            </a:avLst>
          </a:prstGeom>
          <a:solidFill>
            <a:srgbClr val="F0E4D3"/>
          </a:solidFill>
          <a:ln/>
        </p:spPr>
      </p:sp>
      <p:sp>
        <p:nvSpPr>
          <p:cNvPr id="44" name="Text 42"/>
          <p:cNvSpPr/>
          <p:nvPr/>
        </p:nvSpPr>
        <p:spPr>
          <a:xfrm>
            <a:off x="11132820" y="51572160"/>
            <a:ext cx="82524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b="1" i="1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EugenIA v2.0, con el módulo de análisis integrado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20345400" y="114300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LA MDE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20345400" y="12344400"/>
            <a:ext cx="9258300" cy="200482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0665440" y="12664440"/>
            <a:ext cx="86182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Decisión Experimental (MDE) es el artefacto central del proyecto: traduce evidencia bibliométrica curada en criterios operativos concretos para el diseño experimental del laboratorio docente.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tabla descriptiva: es un instrumento de decisión. Cada fila resume qué dice la literatura y qué implica eso para el próximo experimento.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665440" y="15956280"/>
          <a:ext cx="8618220" cy="16116300"/>
        </p:xfrm>
        <a:graphic>
          <a:graphicData uri="http://schemas.openxmlformats.org/drawingml/2006/table">
            <a:tbl>
              <a:tblPr/>
              <a:tblGrid>
                <a:gridCol w="1996089"/>
                <a:gridCol w="3992179"/>
                <a:gridCol w="3084866"/>
              </a:tblGrid>
              <a:tr h="4029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curada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adoptado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4029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Etanol 20-40% v/v y metanol, más reportados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Etanol 50-70% v/v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4029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20-80 mg GAE/g en solventes polares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de referencia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4029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Soxhlet y maceración dominantes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30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Maceración (viabilidad de lab)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20665440" y="15956280"/>
            <a:ext cx="8618220" cy="4029075"/>
          </a:xfrm>
          <a:prstGeom prst="rect">
            <a:avLst/>
          </a:prstGeom>
          <a:solidFill>
            <a:srgbClr val="5B8C3E"/>
          </a:solidFill>
          <a:ln/>
        </p:spPr>
      </p:sp>
      <p:sp>
        <p:nvSpPr>
          <p:cNvPr id="50" name="Text 47"/>
          <p:cNvSpPr/>
          <p:nvPr/>
        </p:nvSpPr>
        <p:spPr>
          <a:xfrm>
            <a:off x="20711160" y="15956280"/>
            <a:ext cx="1896008" cy="402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22607168" y="15956280"/>
            <a:ext cx="3792017" cy="402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curada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26399185" y="15956280"/>
            <a:ext cx="2930195" cy="402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adoptado</a:t>
            </a:r>
            <a:endParaRPr lang="en-US" sz="1250" dirty="0"/>
          </a:p>
        </p:txBody>
      </p:sp>
      <p:sp>
        <p:nvSpPr>
          <p:cNvPr id="53" name="Text 50"/>
          <p:cNvSpPr/>
          <p:nvPr/>
        </p:nvSpPr>
        <p:spPr>
          <a:xfrm>
            <a:off x="20345400" y="328041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LA CURADURÍA</a:t>
            </a:r>
            <a:endParaRPr lang="en-US" sz="1900" dirty="0"/>
          </a:p>
        </p:txBody>
      </p:sp>
      <p:sp>
        <p:nvSpPr>
          <p:cNvPr id="54" name="Shape 51"/>
          <p:cNvSpPr/>
          <p:nvPr/>
        </p:nvSpPr>
        <p:spPr>
          <a:xfrm>
            <a:off x="20345400" y="33718500"/>
            <a:ext cx="9258300" cy="195910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20665440" y="34038540"/>
            <a:ext cx="8618220" cy="1920240"/>
          </a:xfrm>
          <a:prstGeom prst="roundRect">
            <a:avLst>
              <a:gd name="adj" fmla="val 3333"/>
            </a:avLst>
          </a:prstGeom>
          <a:solidFill>
            <a:srgbClr val="F1F6EC"/>
          </a:solidFill>
          <a:ln/>
        </p:spPr>
      </p:sp>
      <p:sp>
        <p:nvSpPr>
          <p:cNvPr id="56" name="Text 53"/>
          <p:cNvSpPr/>
          <p:nvPr/>
        </p:nvSpPr>
        <p:spPr>
          <a:xfrm>
            <a:off x="20665440" y="34102548"/>
            <a:ext cx="86182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3600" dirty="0"/>
          </a:p>
        </p:txBody>
      </p:sp>
      <p:sp>
        <p:nvSpPr>
          <p:cNvPr id="57" name="Text 54"/>
          <p:cNvSpPr/>
          <p:nvPr/>
        </p:nvSpPr>
        <p:spPr>
          <a:xfrm>
            <a:off x="20802600" y="35071812"/>
            <a:ext cx="83439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entre EugenIA y la extracción manual de variables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20665440" y="36233100"/>
            <a:ext cx="8618220" cy="1675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se concentraron en la conversión de unidades entre estudios y en la interpretación de rangos reportados como valores puntuales.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automatizar la búsqueda: hay que justificar y verificar cada dato que alimenta la MDE antes de convertirlo en criterio de diseño.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30060900" y="114300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CORPUS</a:t>
            </a:r>
            <a:endParaRPr lang="en-US" sz="1900" dirty="0"/>
          </a:p>
        </p:txBody>
      </p:sp>
      <p:sp>
        <p:nvSpPr>
          <p:cNvPr id="60" name="Shape 57"/>
          <p:cNvSpPr/>
          <p:nvPr/>
        </p:nvSpPr>
        <p:spPr>
          <a:xfrm>
            <a:off x="30060900" y="12344400"/>
            <a:ext cx="9258300" cy="200482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30380940" y="12664440"/>
            <a:ext cx="414909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</p:spPr>
      </p:sp>
      <p:sp>
        <p:nvSpPr>
          <p:cNvPr id="62" name="Text 59"/>
          <p:cNvSpPr/>
          <p:nvPr/>
        </p:nvSpPr>
        <p:spPr>
          <a:xfrm>
            <a:off x="30380940" y="12774168"/>
            <a:ext cx="41490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600" dirty="0"/>
          </a:p>
        </p:txBody>
      </p:sp>
      <p:sp>
        <p:nvSpPr>
          <p:cNvPr id="63" name="Text 60"/>
          <p:cNvSpPr/>
          <p:nvPr/>
        </p:nvSpPr>
        <p:spPr>
          <a:xfrm>
            <a:off x="30490668" y="13716000"/>
            <a:ext cx="39296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científicos curados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34850070" y="12664440"/>
            <a:ext cx="414909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</p:spPr>
      </p:sp>
      <p:sp>
        <p:nvSpPr>
          <p:cNvPr id="65" name="Text 62"/>
          <p:cNvSpPr/>
          <p:nvPr/>
        </p:nvSpPr>
        <p:spPr>
          <a:xfrm>
            <a:off x="34850070" y="12774168"/>
            <a:ext cx="41490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20-40%</a:t>
            </a:r>
            <a:endParaRPr lang="en-US" sz="2600" dirty="0"/>
          </a:p>
        </p:txBody>
      </p:sp>
      <p:sp>
        <p:nvSpPr>
          <p:cNvPr id="66" name="Text 63"/>
          <p:cNvSpPr/>
          <p:nvPr/>
        </p:nvSpPr>
        <p:spPr>
          <a:xfrm>
            <a:off x="34959798" y="13716000"/>
            <a:ext cx="39296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etanol v/v, solvente más reportado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30380940" y="14904720"/>
            <a:ext cx="414909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</p:spPr>
      </p:sp>
      <p:sp>
        <p:nvSpPr>
          <p:cNvPr id="68" name="Text 65"/>
          <p:cNvSpPr/>
          <p:nvPr/>
        </p:nvSpPr>
        <p:spPr>
          <a:xfrm>
            <a:off x="30380940" y="15014448"/>
            <a:ext cx="41490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20-80</a:t>
            </a:r>
            <a:endParaRPr lang="en-US" sz="2600" dirty="0"/>
          </a:p>
        </p:txBody>
      </p:sp>
      <p:sp>
        <p:nvSpPr>
          <p:cNvPr id="69" name="Text 66"/>
          <p:cNvSpPr/>
          <p:nvPr/>
        </p:nvSpPr>
        <p:spPr>
          <a:xfrm>
            <a:off x="30490668" y="15956280"/>
            <a:ext cx="39296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GAE/g, rango de TPC en solventes polares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34850070" y="14904720"/>
            <a:ext cx="414909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</p:spPr>
      </p:sp>
      <p:sp>
        <p:nvSpPr>
          <p:cNvPr id="71" name="Text 68"/>
          <p:cNvSpPr/>
          <p:nvPr/>
        </p:nvSpPr>
        <p:spPr>
          <a:xfrm>
            <a:off x="34850070" y="15014448"/>
            <a:ext cx="414909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Soxhlet +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maceración</a:t>
            </a:r>
            <a:endParaRPr lang="en-US" sz="2000" dirty="0"/>
          </a:p>
        </p:txBody>
      </p:sp>
      <p:sp>
        <p:nvSpPr>
          <p:cNvPr id="72" name="Text 69"/>
          <p:cNvSpPr/>
          <p:nvPr/>
        </p:nvSpPr>
        <p:spPr>
          <a:xfrm>
            <a:off x="34959798" y="15956280"/>
            <a:ext cx="39296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extracción dominantes</a:t>
            </a:r>
            <a:endParaRPr lang="en-US" sz="1150" dirty="0"/>
          </a:p>
        </p:txBody>
      </p:sp>
      <p:sp>
        <p:nvSpPr>
          <p:cNvPr id="73" name="Text 70"/>
          <p:cNvSpPr/>
          <p:nvPr/>
        </p:nvSpPr>
        <p:spPr>
          <a:xfrm>
            <a:off x="30380940" y="17327880"/>
            <a:ext cx="8618220" cy="1474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Etanol acuoso y metanol fueron los solventes polares más asociados a alto rendimiento antioxidante y fenólico, alimentando directamente la MDE del proyecto.</a:t>
            </a:r>
            <a:endParaRPr lang="en-US" sz="1500" dirty="0"/>
          </a:p>
        </p:txBody>
      </p:sp>
      <p:sp>
        <p:nvSpPr>
          <p:cNvPr id="74" name="Text 71"/>
          <p:cNvSpPr/>
          <p:nvPr/>
        </p:nvSpPr>
        <p:spPr>
          <a:xfrm>
            <a:off x="30060900" y="32804100"/>
            <a:ext cx="9258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50" kern="0" dirty="0">
                <a:solidFill>
                  <a:srgbClr val="1F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AGO-DIC 2026</a:t>
            </a:r>
            <a:endParaRPr lang="en-US" sz="1700" dirty="0"/>
          </a:p>
        </p:txBody>
      </p:sp>
      <p:sp>
        <p:nvSpPr>
          <p:cNvPr id="75" name="Shape 72"/>
          <p:cNvSpPr/>
          <p:nvPr/>
        </p:nvSpPr>
        <p:spPr>
          <a:xfrm>
            <a:off x="30060900" y="33718500"/>
            <a:ext cx="9258300" cy="1959102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1750" dir="5400000">
              <a:srgbClr val="000000">
                <a:alpha val="12000"/>
              </a:srgbClr>
            </a:outerShdw>
          </a:effectLst>
        </p:spPr>
      </p:sp>
      <p:sp>
        <p:nvSpPr>
          <p:cNvPr id="76" name="Text 73"/>
          <p:cNvSpPr/>
          <p:nvPr/>
        </p:nvSpPr>
        <p:spPr>
          <a:xfrm>
            <a:off x="30380940" y="34038540"/>
            <a:ext cx="86182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Agosto: auditoría del pipeline actual de EugenIA.</a:t>
            </a:r>
            <a:endParaRPr lang="en-US" sz="1500" dirty="0"/>
          </a:p>
          <a:p>
            <a:pPr algn="l"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Agosto-septiembre: diseño del módulo de extracción de variables.</a:t>
            </a:r>
            <a:endParaRPr lang="en-US" sz="1500" dirty="0"/>
          </a:p>
          <a:p>
            <a:pPr algn="l"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Septiembre-octubre: implementación e integración al pipeline.</a:t>
            </a:r>
            <a:endParaRPr lang="en-US" sz="1500" dirty="0"/>
          </a:p>
          <a:p>
            <a:pPr algn="l"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Octubre-noviembre: generación y validación de la MDE.</a:t>
            </a:r>
            <a:endParaRPr lang="en-US" sz="1500" dirty="0"/>
          </a:p>
          <a:p>
            <a:pPr algn="l"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Noviembre: divulgación (congreso estudiantil, borrador de manuscrito).</a:t>
            </a:r>
            <a:endParaRPr lang="en-US" sz="15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24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Diciembre: cierre semestral e informe de avance.</a:t>
            </a:r>
            <a:endParaRPr lang="en-US" sz="1500" dirty="0"/>
          </a:p>
        </p:txBody>
      </p:sp>
      <p:sp>
        <p:nvSpPr>
          <p:cNvPr id="77" name="Shape 74"/>
          <p:cNvSpPr/>
          <p:nvPr/>
        </p:nvSpPr>
        <p:spPr>
          <a:xfrm>
            <a:off x="30380940" y="38747700"/>
            <a:ext cx="8618220" cy="14241780"/>
          </a:xfrm>
          <a:prstGeom prst="roundRect">
            <a:avLst>
              <a:gd name="adj" fmla="val 743"/>
            </a:avLst>
          </a:prstGeom>
          <a:solidFill>
            <a:srgbClr val="E8F0DF"/>
          </a:solidFill>
          <a:ln/>
        </p:spPr>
      </p:sp>
      <p:sp>
        <p:nvSpPr>
          <p:cNvPr id="78" name="Text 75"/>
          <p:cNvSpPr/>
          <p:nvPr/>
        </p:nvSpPr>
        <p:spPr>
          <a:xfrm>
            <a:off x="30563820" y="38839140"/>
            <a:ext cx="8252460" cy="1405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esperados: EugenIA v2.0 integrado, documentación técnica, corpus ampliado, MDE actualizada, presentación en congreso estudiantil e informe semestral de avance.</a:t>
            </a:r>
            <a:endParaRPr lang="en-US" sz="1350" dirty="0"/>
          </a:p>
        </p:txBody>
      </p:sp>
      <p:sp>
        <p:nvSpPr>
          <p:cNvPr id="79" name="Shape 76"/>
          <p:cNvSpPr/>
          <p:nvPr/>
        </p:nvSpPr>
        <p:spPr>
          <a:xfrm>
            <a:off x="0" y="53583840"/>
            <a:ext cx="40233600" cy="1280160"/>
          </a:xfrm>
          <a:prstGeom prst="rect">
            <a:avLst/>
          </a:prstGeom>
          <a:solidFill>
            <a:srgbClr val="1F4620"/>
          </a:solidFill>
          <a:ln/>
        </p:spPr>
      </p:sp>
      <p:sp>
        <p:nvSpPr>
          <p:cNvPr id="80" name="Text 77"/>
          <p:cNvSpPr/>
          <p:nvPr/>
        </p:nvSpPr>
        <p:spPr>
          <a:xfrm>
            <a:off x="914400" y="53583840"/>
            <a:ext cx="3840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Agradecimientos: Universidad de Puerto Rico, Recinto de Río Piedras, y Sección de Puerto Rico de la American Chemical Society (ACS)  |  EugenIA Lab, CIFI 4996  |  Departamento de Ciencias Físicas, Facultad de Estudios Generales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EugenIA Lab</dc:title>
  <dc:subject>PptxGenJS Presentation</dc:subject>
  <dc:creator>Kamila López Díaz</dc:creator>
  <cp:lastModifiedBy>Kamila López Díaz</cp:lastModifiedBy>
  <cp:revision>1</cp:revision>
  <dcterms:created xsi:type="dcterms:W3CDTF">2026-07-08T14:34:46Z</dcterms:created>
  <dcterms:modified xsi:type="dcterms:W3CDTF">2026-07-08T14:34:46Z</dcterms:modified>
</cp:coreProperties>
</file>