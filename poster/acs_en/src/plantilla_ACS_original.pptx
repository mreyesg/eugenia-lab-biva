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2918400" cy="43891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918400" cy="43891200"/>
          </a:xfrm>
          <a:prstGeom prst="rect">
            <a:avLst/>
          </a:prstGeom>
          <a:solidFill>
            <a:srgbClr val="FAF8F2"/>
          </a:solidFill>
          <a:ln w="1270">
            <a:solidFill>
              <a:srgbClr val="FA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918400" cy="2743200"/>
          </a:xfrm>
          <a:prstGeom prst="rect">
            <a:avLst/>
          </a:prstGeom>
          <a:solidFill>
            <a:srgbClr val="FFFFFF"/>
          </a:solidFill>
          <a:ln w="2540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0"/>
            <a:ext cx="457200" cy="41148000"/>
          </a:xfrm>
          <a:prstGeom prst="rect">
            <a:avLst/>
          </a:prstGeom>
          <a:solidFill>
            <a:srgbClr val="4EC1B9"/>
          </a:solidFill>
          <a:ln w="1270">
            <a:solidFill>
              <a:srgbClr val="4EC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2743200"/>
            <a:ext cx="4572000" cy="41148000"/>
          </a:xfrm>
          <a:prstGeom prst="rect">
            <a:avLst/>
          </a:prstGeom>
          <a:solidFill>
            <a:srgbClr val="FFFFFF"/>
          </a:solidFill>
          <a:ln w="2540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0" y="2743200"/>
            <a:ext cx="13258800" cy="41148000"/>
          </a:xfrm>
          <a:prstGeom prst="rect">
            <a:avLst/>
          </a:prstGeom>
          <a:solidFill>
            <a:srgbClr val="FFFFFF"/>
          </a:solidFill>
          <a:ln w="2540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202400" y="2743200"/>
            <a:ext cx="13258800" cy="41148000"/>
          </a:xfrm>
          <a:prstGeom prst="rect">
            <a:avLst/>
          </a:prstGeom>
          <a:solidFill>
            <a:srgbClr val="FFFFFF"/>
          </a:solidFill>
          <a:ln w="2540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57200"/>
            <a:ext cx="23774400" cy="1645920"/>
          </a:xfrm>
          <a:prstGeom prst="rect">
            <a:avLst/>
          </a:prstGeom>
          <a:noFill/>
        </p:spPr>
        <p:txBody>
          <a:bodyPr wrap="none">
            <a:spAutoFit/>
          </a:bodyPr>
          <a:lstStyle/>
          <a:p>
            <a:pPr algn="l"/>
            <a:r>
              <a:rPr sz="9200" b="1">
                <a:solidFill>
                  <a:srgbClr val="1B1B1B"/>
                </a:solidFill>
              </a:rPr>
              <a:t>AI-Assisted Literature Analysis for the Experimental Design of Solvent Optimization in Analgesic Studies of Plectranthus amboinicus</a:t>
            </a:r>
          </a:p>
        </p:txBody>
      </p:sp>
      <p:sp>
        <p:nvSpPr>
          <p:cNvPr id="9" name="TextBox 8"/>
          <p:cNvSpPr txBox="1"/>
          <p:nvPr/>
        </p:nvSpPr>
        <p:spPr>
          <a:xfrm>
            <a:off x="914400" y="2103120"/>
            <a:ext cx="18288000" cy="548640"/>
          </a:xfrm>
          <a:prstGeom prst="rect">
            <a:avLst/>
          </a:prstGeom>
          <a:noFill/>
        </p:spPr>
        <p:txBody>
          <a:bodyPr wrap="none">
            <a:spAutoFit/>
          </a:bodyPr>
          <a:lstStyle/>
          <a:p>
            <a:pPr algn="l"/>
            <a:r>
              <a:rPr sz="4000" b="0">
                <a:solidFill>
                  <a:srgbClr val="1B1B1B"/>
                </a:solidFill>
              </a:rPr>
              <a:t>Kamila López Díaz¹ and Manuel Reyes-Guzmán²  ·  University of Puerto Rico, Río Piedras</a:t>
            </a:r>
          </a:p>
        </p:txBody>
      </p:sp>
      <p:sp>
        <p:nvSpPr>
          <p:cNvPr id="10" name="Rectangle 9"/>
          <p:cNvSpPr/>
          <p:nvPr/>
        </p:nvSpPr>
        <p:spPr>
          <a:xfrm>
            <a:off x="27889200" y="457200"/>
            <a:ext cx="4389120" cy="2103120"/>
          </a:xfrm>
          <a:prstGeom prst="rect">
            <a:avLst/>
          </a:prstGeom>
          <a:solidFill>
            <a:srgbClr val="FFFFFF"/>
          </a:solidFill>
          <a:ln w="19050">
            <a:solidFill>
              <a:srgbClr val="B7B4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072080" y="731520"/>
            <a:ext cx="4023360" cy="640080"/>
          </a:xfrm>
          <a:prstGeom prst="rect">
            <a:avLst/>
          </a:prstGeom>
          <a:noFill/>
        </p:spPr>
        <p:txBody>
          <a:bodyPr wrap="none">
            <a:spAutoFit/>
          </a:bodyPr>
          <a:lstStyle/>
          <a:p>
            <a:pPr algn="l"/>
            <a:r>
              <a:rPr sz="2800" b="1">
                <a:solidFill>
                  <a:srgbClr val="1B1B1B"/>
                </a:solidFill>
              </a:rPr>
              <a:t>UPR-RP LOGO</a:t>
            </a:r>
          </a:p>
        </p:txBody>
      </p:sp>
      <p:sp>
        <p:nvSpPr>
          <p:cNvPr id="12" name="TextBox 11"/>
          <p:cNvSpPr txBox="1"/>
          <p:nvPr/>
        </p:nvSpPr>
        <p:spPr>
          <a:xfrm>
            <a:off x="28072080" y="1371600"/>
            <a:ext cx="4023360" cy="548640"/>
          </a:xfrm>
          <a:prstGeom prst="rect">
            <a:avLst/>
          </a:prstGeom>
          <a:noFill/>
        </p:spPr>
        <p:txBody>
          <a:bodyPr wrap="none">
            <a:spAutoFit/>
          </a:bodyPr>
          <a:lstStyle/>
          <a:p>
            <a:pPr algn="l"/>
            <a:r>
              <a:rPr sz="2400" b="0">
                <a:solidFill>
                  <a:srgbClr val="1B1B1B"/>
                </a:solidFill>
              </a:rPr>
              <a:t>ACS PR LOGO</a:t>
            </a:r>
          </a:p>
        </p:txBody>
      </p:sp>
      <p:sp>
        <p:nvSpPr>
          <p:cNvPr id="13" name="TextBox 12"/>
          <p:cNvSpPr txBox="1"/>
          <p:nvPr/>
        </p:nvSpPr>
        <p:spPr>
          <a:xfrm>
            <a:off x="914400" y="3200400"/>
            <a:ext cx="3200400" cy="640080"/>
          </a:xfrm>
          <a:prstGeom prst="rect">
            <a:avLst/>
          </a:prstGeom>
          <a:noFill/>
        </p:spPr>
        <p:txBody>
          <a:bodyPr wrap="none">
            <a:spAutoFit/>
          </a:bodyPr>
          <a:lstStyle/>
          <a:p>
            <a:pPr algn="l"/>
            <a:r>
              <a:rPr sz="4800" b="1">
                <a:solidFill>
                  <a:srgbClr val="6A1B9A"/>
                </a:solidFill>
              </a:rPr>
              <a:t>Overview</a:t>
            </a:r>
          </a:p>
        </p:txBody>
      </p:sp>
      <p:sp>
        <p:nvSpPr>
          <p:cNvPr id="14" name="TextBox 13"/>
          <p:cNvSpPr txBox="1"/>
          <p:nvPr/>
        </p:nvSpPr>
        <p:spPr>
          <a:xfrm>
            <a:off x="914400" y="3931920"/>
            <a:ext cx="3200400" cy="3200400"/>
          </a:xfrm>
          <a:prstGeom prst="rect">
            <a:avLst/>
          </a:prstGeom>
          <a:noFill/>
        </p:spPr>
        <p:txBody>
          <a:bodyPr wrap="none">
            <a:spAutoFit/>
          </a:bodyPr>
          <a:lstStyle/>
          <a:p>
            <a:pPr algn="l"/>
            <a:r>
              <a:rPr sz="3000" b="0">
                <a:solidFill>
                  <a:srgbClr val="1B1B1B"/>
                </a:solidFill>
              </a:rPr>
              <a:t>• Project aim
• Rationale for AI-assisted bibliometry
• Hypothesis / research questions
• Scope &amp; inclusion criteria
• Data pipeline (PDF → CSV → Analysis)</a:t>
            </a:r>
          </a:p>
        </p:txBody>
      </p:sp>
      <p:sp>
        <p:nvSpPr>
          <p:cNvPr id="15" name="TextBox 14"/>
          <p:cNvSpPr txBox="1"/>
          <p:nvPr/>
        </p:nvSpPr>
        <p:spPr>
          <a:xfrm>
            <a:off x="914400" y="7498079"/>
            <a:ext cx="3200400" cy="640080"/>
          </a:xfrm>
          <a:prstGeom prst="rect">
            <a:avLst/>
          </a:prstGeom>
          <a:noFill/>
        </p:spPr>
        <p:txBody>
          <a:bodyPr wrap="none">
            <a:spAutoFit/>
          </a:bodyPr>
          <a:lstStyle/>
          <a:p>
            <a:pPr algn="l"/>
            <a:r>
              <a:rPr sz="4400" b="1">
                <a:solidFill>
                  <a:srgbClr val="4EC1B9"/>
                </a:solidFill>
              </a:rPr>
              <a:t>Navigation</a:t>
            </a:r>
          </a:p>
        </p:txBody>
      </p:sp>
      <p:sp>
        <p:nvSpPr>
          <p:cNvPr id="16" name="TextBox 15"/>
          <p:cNvSpPr txBox="1"/>
          <p:nvPr/>
        </p:nvSpPr>
        <p:spPr>
          <a:xfrm>
            <a:off x="914400" y="8138160"/>
            <a:ext cx="3200400" cy="2560320"/>
          </a:xfrm>
          <a:prstGeom prst="rect">
            <a:avLst/>
          </a:prstGeom>
          <a:noFill/>
        </p:spPr>
        <p:txBody>
          <a:bodyPr wrap="none">
            <a:spAutoFit/>
          </a:bodyPr>
          <a:lstStyle/>
          <a:p>
            <a:pPr algn="l"/>
            <a:r>
              <a:rPr sz="2800" b="0">
                <a:solidFill>
                  <a:srgbClr val="1B1B1B"/>
                </a:solidFill>
              </a:rPr>
              <a:t>1. Abstract
2. Methods (Bibliometric AI)
3. Results &amp; Figures
4. Discussion
5. Conclusions
6. References
7. Acknowledgments</a:t>
            </a:r>
          </a:p>
        </p:txBody>
      </p:sp>
      <p:sp>
        <p:nvSpPr>
          <p:cNvPr id="17" name="TextBox 16"/>
          <p:cNvSpPr txBox="1"/>
          <p:nvPr/>
        </p:nvSpPr>
        <p:spPr>
          <a:xfrm>
            <a:off x="914400" y="11064240"/>
            <a:ext cx="3200400" cy="640080"/>
          </a:xfrm>
          <a:prstGeom prst="rect">
            <a:avLst/>
          </a:prstGeom>
          <a:noFill/>
        </p:spPr>
        <p:txBody>
          <a:bodyPr wrap="none">
            <a:spAutoFit/>
          </a:bodyPr>
          <a:lstStyle/>
          <a:p>
            <a:pPr algn="l"/>
            <a:r>
              <a:rPr sz="4400" b="1">
                <a:solidFill>
                  <a:srgbClr val="4EC1B9"/>
                </a:solidFill>
              </a:rPr>
              <a:t>QR &amp; Contacts</a:t>
            </a:r>
          </a:p>
        </p:txBody>
      </p:sp>
      <p:sp>
        <p:nvSpPr>
          <p:cNvPr id="18" name="Rectangle 17"/>
          <p:cNvSpPr/>
          <p:nvPr/>
        </p:nvSpPr>
        <p:spPr>
          <a:xfrm>
            <a:off x="914400" y="11795760"/>
            <a:ext cx="3200400" cy="3200400"/>
          </a:xfrm>
          <a:prstGeom prst="rect">
            <a:avLst/>
          </a:prstGeom>
          <a:solidFill>
            <a:srgbClr val="FFFFFF"/>
          </a:solidFill>
          <a:ln w="19050">
            <a:solidFill>
              <a:srgbClr val="B7B4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0" y="11978640"/>
            <a:ext cx="1645920" cy="457200"/>
          </a:xfrm>
          <a:prstGeom prst="rect">
            <a:avLst/>
          </a:prstGeom>
          <a:noFill/>
        </p:spPr>
        <p:txBody>
          <a:bodyPr wrap="none">
            <a:spAutoFit/>
          </a:bodyPr>
          <a:lstStyle/>
          <a:p>
            <a:pPr algn="l"/>
            <a:r>
              <a:rPr sz="2000" b="0">
                <a:solidFill>
                  <a:srgbClr val="1B1B1B"/>
                </a:solidFill>
              </a:rPr>
              <a:t>QR placeholder</a:t>
            </a:r>
          </a:p>
        </p:txBody>
      </p:sp>
      <p:sp>
        <p:nvSpPr>
          <p:cNvPr id="20" name="TextBox 19"/>
          <p:cNvSpPr txBox="1"/>
          <p:nvPr/>
        </p:nvSpPr>
        <p:spPr>
          <a:xfrm>
            <a:off x="914400" y="15453359"/>
            <a:ext cx="3200400" cy="914400"/>
          </a:xfrm>
          <a:prstGeom prst="rect">
            <a:avLst/>
          </a:prstGeom>
          <a:noFill/>
        </p:spPr>
        <p:txBody>
          <a:bodyPr wrap="none">
            <a:spAutoFit/>
          </a:bodyPr>
          <a:lstStyle/>
          <a:p>
            <a:pPr algn="l"/>
            <a:r>
              <a:rPr sz="2600" b="0">
                <a:solidFill>
                  <a:srgbClr val="1B1B1B"/>
                </a:solidFill>
              </a:rPr>
              <a:t>Email: name@upr.edu
Site: avat.uprrp.edu</a:t>
            </a:r>
          </a:p>
        </p:txBody>
      </p:sp>
      <p:sp>
        <p:nvSpPr>
          <p:cNvPr id="21" name="TextBox 20"/>
          <p:cNvSpPr txBox="1"/>
          <p:nvPr/>
        </p:nvSpPr>
        <p:spPr>
          <a:xfrm>
            <a:off x="5943600" y="3291840"/>
            <a:ext cx="12344400" cy="822960"/>
          </a:xfrm>
          <a:prstGeom prst="rect">
            <a:avLst/>
          </a:prstGeom>
          <a:noFill/>
        </p:spPr>
        <p:txBody>
          <a:bodyPr wrap="none">
            <a:spAutoFit/>
          </a:bodyPr>
          <a:lstStyle/>
          <a:p>
            <a:pPr algn="l"/>
            <a:r>
              <a:rPr sz="5600" b="1">
                <a:solidFill>
                  <a:srgbClr val="6A1B9A"/>
                </a:solidFill>
              </a:rPr>
              <a:t>Abstract</a:t>
            </a:r>
          </a:p>
        </p:txBody>
      </p:sp>
      <p:sp>
        <p:nvSpPr>
          <p:cNvPr id="22" name="TextBox 21"/>
          <p:cNvSpPr txBox="1"/>
          <p:nvPr/>
        </p:nvSpPr>
        <p:spPr>
          <a:xfrm>
            <a:off x="5943600" y="4114800"/>
            <a:ext cx="12344400" cy="3840480"/>
          </a:xfrm>
          <a:prstGeom prst="rect">
            <a:avLst/>
          </a:prstGeom>
          <a:noFill/>
        </p:spPr>
        <p:txBody>
          <a:bodyPr wrap="none">
            <a:spAutoFit/>
          </a:bodyPr>
          <a:lstStyle/>
          <a:p>
            <a:pPr algn="l"/>
            <a:r>
              <a:t>This undergraduate research project examines how artificial intelligence (AI) can enhance literature-based experimental design in the search for bioactive and analgesic compounds from *Plectranthus amboinicus (Lour.) Spreng.* Using AI-driven text mining and systematic review methods, published studies were analyzed to identify solvent systems and extraction parameters most frequently associated with high yields of antioxidant and phenolic constituents linked to analgesic potential. Computational clustering and bibliometric synthesis revealed consistent associations between solvent polarity and extract efficacy. Polar solvents—especially aqueous ethanol (20–40%) and methanol—were most often reported in studies with high phenolic recovery and corresponding antioxidant activity.</a:t>
            </a:r>
          </a:p>
        </p:txBody>
      </p:sp>
      <p:sp>
        <p:nvSpPr>
          <p:cNvPr id="23" name="TextBox 22"/>
          <p:cNvSpPr txBox="1"/>
          <p:nvPr/>
        </p:nvSpPr>
        <p:spPr>
          <a:xfrm>
            <a:off x="5943600" y="8229600"/>
            <a:ext cx="12344400" cy="822960"/>
          </a:xfrm>
          <a:prstGeom prst="rect">
            <a:avLst/>
          </a:prstGeom>
          <a:noFill/>
        </p:spPr>
        <p:txBody>
          <a:bodyPr wrap="none">
            <a:spAutoFit/>
          </a:bodyPr>
          <a:lstStyle/>
          <a:p>
            <a:pPr algn="l"/>
            <a:r>
              <a:rPr sz="5600" b="1">
                <a:solidFill>
                  <a:srgbClr val="6A1B9A"/>
                </a:solidFill>
              </a:rPr>
              <a:t>Methods — Bibliometric AI</a:t>
            </a:r>
          </a:p>
        </p:txBody>
      </p:sp>
      <p:sp>
        <p:nvSpPr>
          <p:cNvPr id="24" name="TextBox 23"/>
          <p:cNvSpPr txBox="1"/>
          <p:nvPr/>
        </p:nvSpPr>
        <p:spPr>
          <a:xfrm>
            <a:off x="5943600" y="9052560"/>
            <a:ext cx="12344400" cy="4389120"/>
          </a:xfrm>
          <a:prstGeom prst="rect">
            <a:avLst/>
          </a:prstGeom>
          <a:noFill/>
        </p:spPr>
        <p:txBody>
          <a:bodyPr wrap="none">
            <a:spAutoFit/>
          </a:bodyPr>
          <a:lstStyle/>
          <a:p>
            <a:pPr algn="l"/>
            <a:r>
              <a:t>A custom GPT-based assistant, *Bibliometric AI*, was developed within the GAIA–AVAT ecosystem to extract structured data from scientific PDFs. It automates normalization of key fields (authors, year, DOI, solvent, extraction method, TPC, yield, bioactivity) into reproducible CSV matrices. This tool integrates text-mining, semantic parsing, and clustering to reveal solvent–bioactivity correlations, drastically reducing manual tabulation time and enhancing reproducibility.</a:t>
            </a:r>
          </a:p>
        </p:txBody>
      </p:sp>
      <p:sp>
        <p:nvSpPr>
          <p:cNvPr id="25" name="TextBox 24"/>
          <p:cNvSpPr txBox="1"/>
          <p:nvPr/>
        </p:nvSpPr>
        <p:spPr>
          <a:xfrm>
            <a:off x="19659600" y="3291840"/>
            <a:ext cx="12344400" cy="822960"/>
          </a:xfrm>
          <a:prstGeom prst="rect">
            <a:avLst/>
          </a:prstGeom>
          <a:noFill/>
        </p:spPr>
        <p:txBody>
          <a:bodyPr wrap="none">
            <a:spAutoFit/>
          </a:bodyPr>
          <a:lstStyle/>
          <a:p>
            <a:pPr algn="l"/>
            <a:r>
              <a:rPr sz="5600" b="1">
                <a:solidFill>
                  <a:srgbClr val="6A1B9A"/>
                </a:solidFill>
              </a:rPr>
              <a:t>Results &amp; Figures</a:t>
            </a:r>
          </a:p>
        </p:txBody>
      </p:sp>
      <p:sp>
        <p:nvSpPr>
          <p:cNvPr id="26" name="Rectangle 25"/>
          <p:cNvSpPr/>
          <p:nvPr/>
        </p:nvSpPr>
        <p:spPr>
          <a:xfrm>
            <a:off x="19659600" y="4206240"/>
            <a:ext cx="12344400" cy="5486400"/>
          </a:xfrm>
          <a:prstGeom prst="rect">
            <a:avLst/>
          </a:prstGeom>
          <a:solidFill>
            <a:srgbClr val="FFFFFF"/>
          </a:solidFill>
          <a:ln w="19050">
            <a:solidFill>
              <a:srgbClr val="B7B4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842480" y="4389120"/>
            <a:ext cx="11978640" cy="548640"/>
          </a:xfrm>
          <a:prstGeom prst="rect">
            <a:avLst/>
          </a:prstGeom>
          <a:noFill/>
        </p:spPr>
        <p:txBody>
          <a:bodyPr wrap="none">
            <a:spAutoFit/>
          </a:bodyPr>
          <a:lstStyle/>
          <a:p>
            <a:pPr algn="l"/>
            <a:r>
              <a:t>AI-assisted bibliometric analysis revealed ethanol (20–40%) and methanol as the most frequent solvents for high phenolic yields. Soxhlet and maceration were dominant extraction methods, while ultrasonic-assisted extraction emerged as a growing trend. Total phenolic content concentrated between 20–80 mg GAE/g extract, mostly in polar systems. Studies with stronger antioxidant activity (DPPH inhibition) also reported higher analgesic efficacy, indicating oxidative modulation as a mechanistic bridge.</a:t>
            </a:r>
          </a:p>
        </p:txBody>
      </p:sp>
      <p:sp>
        <p:nvSpPr>
          <p:cNvPr id="28" name="TextBox 27"/>
          <p:cNvSpPr txBox="1"/>
          <p:nvPr/>
        </p:nvSpPr>
        <p:spPr>
          <a:xfrm>
            <a:off x="19659600" y="9966960"/>
            <a:ext cx="12344400" cy="822960"/>
          </a:xfrm>
          <a:prstGeom prst="rect">
            <a:avLst/>
          </a:prstGeom>
          <a:noFill/>
        </p:spPr>
        <p:txBody>
          <a:bodyPr wrap="none">
            <a:spAutoFit/>
          </a:bodyPr>
          <a:lstStyle/>
          <a:p>
            <a:pPr algn="l"/>
            <a:r>
              <a:rPr sz="5600" b="1">
                <a:solidFill>
                  <a:srgbClr val="6A1B9A"/>
                </a:solidFill>
              </a:rPr>
              <a:t>Discussion</a:t>
            </a:r>
          </a:p>
        </p:txBody>
      </p:sp>
      <p:sp>
        <p:nvSpPr>
          <p:cNvPr id="29" name="TextBox 28"/>
          <p:cNvSpPr txBox="1"/>
          <p:nvPr/>
        </p:nvSpPr>
        <p:spPr>
          <a:xfrm>
            <a:off x="19659600" y="10789920"/>
            <a:ext cx="12344400" cy="3840480"/>
          </a:xfrm>
          <a:prstGeom prst="rect">
            <a:avLst/>
          </a:prstGeom>
          <a:noFill/>
        </p:spPr>
        <p:txBody>
          <a:bodyPr wrap="none">
            <a:spAutoFit/>
          </a:bodyPr>
          <a:lstStyle/>
          <a:p>
            <a:pPr algn="l"/>
            <a:r>
              <a:t>The bibliometric synthesis demonstrates that solvent polarity and extraction method are convergent variables linking phenolic recovery to both topical and systemic analgesic efficacy. The integration of AI bibliometry into experimental design supports green chemistry by reducing solvent waste and focusing validation efforts on the most promising extraction regimes.</a:t>
            </a:r>
          </a:p>
        </p:txBody>
      </p:sp>
      <p:sp>
        <p:nvSpPr>
          <p:cNvPr id="30" name="TextBox 29"/>
          <p:cNvSpPr txBox="1"/>
          <p:nvPr/>
        </p:nvSpPr>
        <p:spPr>
          <a:xfrm>
            <a:off x="19659600" y="15087600"/>
            <a:ext cx="12344400" cy="822960"/>
          </a:xfrm>
          <a:prstGeom prst="rect">
            <a:avLst/>
          </a:prstGeom>
          <a:noFill/>
        </p:spPr>
        <p:txBody>
          <a:bodyPr wrap="none">
            <a:spAutoFit/>
          </a:bodyPr>
          <a:lstStyle/>
          <a:p>
            <a:pPr algn="l"/>
            <a:r>
              <a:rPr sz="5600" b="1">
                <a:solidFill>
                  <a:srgbClr val="6A1B9A"/>
                </a:solidFill>
              </a:rPr>
              <a:t>Conclusions</a:t>
            </a:r>
          </a:p>
        </p:txBody>
      </p:sp>
      <p:sp>
        <p:nvSpPr>
          <p:cNvPr id="31" name="TextBox 30"/>
          <p:cNvSpPr txBox="1"/>
          <p:nvPr/>
        </p:nvSpPr>
        <p:spPr>
          <a:xfrm>
            <a:off x="19659600" y="15910559"/>
            <a:ext cx="12344400" cy="2011680"/>
          </a:xfrm>
          <a:prstGeom prst="rect">
            <a:avLst/>
          </a:prstGeom>
          <a:noFill/>
        </p:spPr>
        <p:txBody>
          <a:bodyPr wrap="none">
            <a:spAutoFit/>
          </a:bodyPr>
          <a:lstStyle/>
          <a:p>
            <a:pPr algn="l"/>
            <a:r>
              <a:t>AI–experimental synergy enables data-driven design of solvent systems before physical trials. Bibliometric synthesis identifies solvent polarity and extraction method as key determinants of phenolic and analgesic potential. Future work will extend these insights through controlled experimental validation and transdisciplinary reflection connecting chemistry, AI, and human experience.</a:t>
            </a:r>
          </a:p>
        </p:txBody>
      </p:sp>
      <p:sp>
        <p:nvSpPr>
          <p:cNvPr id="32" name="Rectangle 31"/>
          <p:cNvSpPr/>
          <p:nvPr/>
        </p:nvSpPr>
        <p:spPr>
          <a:xfrm>
            <a:off x="5486400" y="41148000"/>
            <a:ext cx="26974800" cy="2286000"/>
          </a:xfrm>
          <a:prstGeom prst="rect">
            <a:avLst/>
          </a:prstGeom>
          <a:solidFill>
            <a:srgbClr val="FFFFFF"/>
          </a:solidFill>
          <a:ln w="2540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0" y="41330880"/>
            <a:ext cx="26060400" cy="640080"/>
          </a:xfrm>
          <a:prstGeom prst="rect">
            <a:avLst/>
          </a:prstGeom>
          <a:noFill/>
        </p:spPr>
        <p:txBody>
          <a:bodyPr wrap="none">
            <a:spAutoFit/>
          </a:bodyPr>
          <a:lstStyle/>
          <a:p>
            <a:pPr algn="l"/>
            <a:r>
              <a:rPr sz="4400" b="1">
                <a:solidFill>
                  <a:srgbClr val="4EC1B9"/>
                </a:solidFill>
              </a:rPr>
              <a:t>References</a:t>
            </a:r>
          </a:p>
        </p:txBody>
      </p:sp>
      <p:sp>
        <p:nvSpPr>
          <p:cNvPr id="34" name="TextBox 33"/>
          <p:cNvSpPr txBox="1"/>
          <p:nvPr/>
        </p:nvSpPr>
        <p:spPr>
          <a:xfrm>
            <a:off x="5943600" y="41970960"/>
            <a:ext cx="12847320" cy="1280160"/>
          </a:xfrm>
          <a:prstGeom prst="rect">
            <a:avLst/>
          </a:prstGeom>
          <a:noFill/>
        </p:spPr>
        <p:txBody>
          <a:bodyPr wrap="none">
            <a:spAutoFit/>
          </a:bodyPr>
          <a:lstStyle/>
          <a:p>
            <a:pPr algn="l"/>
            <a:r>
              <a:rPr sz="2600" b="0">
                <a:solidFill>
                  <a:srgbClr val="1B1B1B"/>
                </a:solidFill>
              </a:rPr>
              <a:t>Use a compact numbered style (~26–28 pt).</a:t>
            </a:r>
          </a:p>
        </p:txBody>
      </p:sp>
      <p:sp>
        <p:nvSpPr>
          <p:cNvPr id="35" name="TextBox 34"/>
          <p:cNvSpPr txBox="1"/>
          <p:nvPr/>
        </p:nvSpPr>
        <p:spPr>
          <a:xfrm>
            <a:off x="18973800" y="41330880"/>
            <a:ext cx="13030200" cy="640080"/>
          </a:xfrm>
          <a:prstGeom prst="rect">
            <a:avLst/>
          </a:prstGeom>
          <a:noFill/>
        </p:spPr>
        <p:txBody>
          <a:bodyPr wrap="none">
            <a:spAutoFit/>
          </a:bodyPr>
          <a:lstStyle/>
          <a:p>
            <a:pPr algn="l"/>
            <a:r>
              <a:rPr sz="4400" b="1">
                <a:solidFill>
                  <a:srgbClr val="4EC1B9"/>
                </a:solidFill>
              </a:rPr>
              <a:t>Acknowledgments</a:t>
            </a:r>
          </a:p>
        </p:txBody>
      </p:sp>
      <p:sp>
        <p:nvSpPr>
          <p:cNvPr id="36" name="TextBox 35"/>
          <p:cNvSpPr txBox="1"/>
          <p:nvPr/>
        </p:nvSpPr>
        <p:spPr>
          <a:xfrm>
            <a:off x="18973800" y="41970960"/>
            <a:ext cx="12847320" cy="1280160"/>
          </a:xfrm>
          <a:prstGeom prst="rect">
            <a:avLst/>
          </a:prstGeom>
          <a:noFill/>
        </p:spPr>
        <p:txBody>
          <a:bodyPr wrap="none">
            <a:spAutoFit/>
          </a:bodyPr>
          <a:lstStyle/>
          <a:p>
            <a:pPr algn="l"/>
            <a:r>
              <a:t>This research originated as an undergraduate project by Kamila López Díaz in the CIFI 4074 course at the University of Puerto Rico, Río Piedras Campus, under the mentorship of Prof. Manuel Reyes-Guzmán. We gratefully acknowledge the Department of Physical Sciences (CIFI) for support and funding, and the GAIA–AVAT ecosystem (CIFI / FEG / CEA) for infrastructure and conceptual development.</a:t>
            </a:r>
          </a:p>
        </p:txBody>
      </p:sp>
      <p:sp>
        <p:nvSpPr>
          <p:cNvPr id="37" name="Rectangle 36"/>
          <p:cNvSpPr/>
          <p:nvPr/>
        </p:nvSpPr>
        <p:spPr>
          <a:xfrm>
            <a:off x="5486400" y="2743200"/>
            <a:ext cx="18288" cy="41148000"/>
          </a:xfrm>
          <a:prstGeom prst="rect">
            <a:avLst/>
          </a:prstGeom>
          <a:solidFill>
            <a:srgbClr val="EAE7DF"/>
          </a:solidFill>
          <a:ln w="127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8745200" y="2743200"/>
            <a:ext cx="18288" cy="41148000"/>
          </a:xfrm>
          <a:prstGeom prst="rect">
            <a:avLst/>
          </a:prstGeom>
          <a:solidFill>
            <a:srgbClr val="EAE7DF"/>
          </a:solidFill>
          <a:ln w="127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9202400" y="2743200"/>
            <a:ext cx="18288" cy="41148000"/>
          </a:xfrm>
          <a:prstGeom prst="rect">
            <a:avLst/>
          </a:prstGeom>
          <a:solidFill>
            <a:srgbClr val="EAE7DF"/>
          </a:solidFill>
          <a:ln w="127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2461200" y="2743200"/>
            <a:ext cx="18288" cy="41148000"/>
          </a:xfrm>
          <a:prstGeom prst="rect">
            <a:avLst/>
          </a:prstGeom>
          <a:solidFill>
            <a:srgbClr val="EAE7DF"/>
          </a:solidFill>
          <a:ln w="127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2743200"/>
            <a:ext cx="26974800" cy="18288"/>
          </a:xfrm>
          <a:prstGeom prst="rect">
            <a:avLst/>
          </a:prstGeom>
          <a:solidFill>
            <a:srgbClr val="EAE7DF"/>
          </a:solidFill>
          <a:ln w="127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86400" y="8229600"/>
            <a:ext cx="26974800" cy="18288"/>
          </a:xfrm>
          <a:prstGeom prst="rect">
            <a:avLst/>
          </a:prstGeom>
          <a:solidFill>
            <a:srgbClr val="EAE7DF"/>
          </a:solidFill>
          <a:ln w="127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0" y="13716000"/>
            <a:ext cx="26974800" cy="18288"/>
          </a:xfrm>
          <a:prstGeom prst="rect">
            <a:avLst/>
          </a:prstGeom>
          <a:solidFill>
            <a:srgbClr val="EAE7DF"/>
          </a:solidFill>
          <a:ln w="127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00" y="19202400"/>
            <a:ext cx="26974800" cy="18288"/>
          </a:xfrm>
          <a:prstGeom prst="rect">
            <a:avLst/>
          </a:prstGeom>
          <a:solidFill>
            <a:srgbClr val="EAE7DF"/>
          </a:solidFill>
          <a:ln w="127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24688800"/>
            <a:ext cx="26974800" cy="18288"/>
          </a:xfrm>
          <a:prstGeom prst="rect">
            <a:avLst/>
          </a:prstGeom>
          <a:solidFill>
            <a:srgbClr val="EAE7DF"/>
          </a:solidFill>
          <a:ln w="127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0" y="30175200"/>
            <a:ext cx="26974800" cy="18288"/>
          </a:xfrm>
          <a:prstGeom prst="rect">
            <a:avLst/>
          </a:prstGeom>
          <a:solidFill>
            <a:srgbClr val="EAE7DF"/>
          </a:solidFill>
          <a:ln w="127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0" y="35661600"/>
            <a:ext cx="26974800" cy="18288"/>
          </a:xfrm>
          <a:prstGeom prst="rect">
            <a:avLst/>
          </a:prstGeom>
          <a:solidFill>
            <a:srgbClr val="EAE7DF"/>
          </a:solidFill>
          <a:ln w="127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486400" y="41148000"/>
            <a:ext cx="26974800" cy="18288"/>
          </a:xfrm>
          <a:prstGeom prst="rect">
            <a:avLst/>
          </a:prstGeom>
          <a:solidFill>
            <a:srgbClr val="EAE7DF"/>
          </a:solidFill>
          <a:ln w="1270">
            <a:solidFill>
              <a:srgbClr val="EAE7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