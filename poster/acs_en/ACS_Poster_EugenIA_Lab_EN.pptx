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FAF8F2"/>
          </a:solidFill>
          <a:ln w="127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457200" cy="41148000"/>
          </a:xfrm>
          <a:prstGeom prst="rect">
            <a:avLst/>
          </a:prstGeom>
          <a:solidFill>
            <a:srgbClr val="4EC1B9"/>
          </a:solidFill>
          <a:ln w="1270">
            <a:solidFill>
              <a:srgbClr val="4EC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4572000" cy="411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2743200"/>
            <a:ext cx="13258800" cy="411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0" y="2743200"/>
            <a:ext cx="13258800" cy="411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"/>
            <a:ext cx="2560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>
                <a:solidFill>
                  <a:srgbClr val="1B1B1B"/>
                </a:solidFill>
                <a:latin typeface="Calibri"/>
              </a:rPr>
              <a:t>AI-Assisted Literature Analysis for the Experimental Design of Solvent Optimization in Analgesic Studies of Plectranthus amboinicus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606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3400" b="1">
                <a:solidFill>
                  <a:srgbClr val="1B1B1B"/>
                </a:solidFill>
                <a:latin typeface="Calibri"/>
              </a:rPr>
              <a:t>Kamila López Díaz  ·  Manuel Reyes-Guzmán, Ph.D. (principal investigator)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2700" b="0">
                <a:solidFill>
                  <a:srgbClr val="555555"/>
                </a:solidFill>
                <a:latin typeface="Calibri"/>
              </a:rPr>
              <a:t>EugenIA Lab  ·  Department of Physical Sciences (CIFI 4996)  ·  Faculty of General Studies  ·  University of Puerto Rico, Río Piedras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77487" y="301752"/>
            <a:ext cx="5372465" cy="2066543"/>
          </a:xfrm>
          <a:prstGeom prst="rect">
            <a:avLst/>
          </a:prstGeom>
          <a:solidFill>
            <a:srgbClr val="FFFFFF"/>
          </a:solidFill>
          <a:ln w="19050">
            <a:solidFill>
              <a:srgbClr val="B7B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600" b="1">
                <a:solidFill>
                  <a:srgbClr val="6A1B9A"/>
                </a:solidFill>
                <a:latin typeface="Calibri"/>
              </a:rPr>
              <a:t>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Aim: turn curated literature into concrete experimental design criteria.</a:t>
            </a:r>
          </a:p>
          <a:p>
            <a:pPr>
              <a:lnSpc>
                <a:spcPct val="93000"/>
              </a:lnSpc>
              <a:spcAft>
                <a:spcPts val="7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Species: Plectranthus amboinicus (Cuban oregano).</a:t>
            </a:r>
          </a:p>
          <a:p>
            <a:pPr>
              <a:lnSpc>
                <a:spcPct val="93000"/>
              </a:lnSpc>
              <a:spcAft>
                <a:spcPts val="7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Agent: EugenIA, a multi-database bibliometric pipeline.</a:t>
            </a:r>
          </a:p>
          <a:p>
            <a:pPr>
              <a:lnSpc>
                <a:spcPct val="93000"/>
              </a:lnSpc>
              <a:spcAft>
                <a:spcPts val="7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Artifact: the Experimental Decision Matrix (EDM).</a:t>
            </a:r>
          </a:p>
          <a:p>
            <a:pPr>
              <a:lnSpc>
                <a:spcPct val="93000"/>
              </a:lnSpc>
              <a:spcAft>
                <a:spcPts val="7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Question: which ethanol concentration maximizes total phenolic content?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92354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600" b="1">
                <a:solidFill>
                  <a:srgbClr val="6A1B9A"/>
                </a:solidFill>
                <a:latin typeface="Calibri"/>
              </a:rPr>
              <a:t>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005840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1.  Abstract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2.  Methods: the EugenIA pipeline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3.  From literature to decision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4.  The Decision Matrix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5.  Results and figures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6.  Discussion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2300" b="0">
                <a:solidFill>
                  <a:srgbClr val="1B1B1B"/>
                </a:solidFill>
                <a:latin typeface="Calibri"/>
              </a:rPr>
              <a:t>7.  Conclusions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33502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600" b="1">
                <a:solidFill>
                  <a:srgbClr val="6A1B9A"/>
                </a:solidFill>
                <a:latin typeface="Calibri"/>
              </a:rPr>
              <a:t>Try the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4264640"/>
            <a:ext cx="32004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7B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96596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400" b="1">
                <a:solidFill>
                  <a:srgbClr val="1B1B1B"/>
                </a:solidFill>
                <a:latin typeface="Calibri"/>
              </a:rPr>
              <a:t>mreyes@upr.edu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web-beta-hazel-49.vercel.app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91840"/>
            <a:ext cx="1234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Abstract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0624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Undergraduate research in phytochemistry often stalls between reading the literature and choosing experimental conditions. This project asks whether an AI bibliometric agent can close that gap for Plectranthus amboinicus, a species with abundant but methodologically heterogeneous literature. EugenIA, the agent built at EugenIA Lab, searches multiple bibliographic databases, deduplicates by DOI and normalized title, validates open-access PDFs and produces a curated corpus. That corpus feeds an Experimental Decision Matrix (EDM): a typed artifact pairing what the literature reports with the operating criterion the teaching laboratory will adopt, and recording which curated papers support each row. Across a 47-article corpus, aqueous ethanol (20–40% v/v) and methanol were the most reported solvents, with total phenolic content between 20 and 80 mg GAE/g; Soxhlet and maceration dominated. Agreement between automated and manual variable extraction was 91.3%.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9875520"/>
            <a:ext cx="1234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Methods: the EugenIA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0698480"/>
            <a:ext cx="12344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3000"/>
              </a:lnSpc>
              <a:spcAft>
                <a:spcPts val="8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EugenIA runs a reproducible pipeline, not a chat.</a:t>
            </a:r>
          </a:p>
          <a:p>
            <a:pPr>
              <a:lnSpc>
                <a:spcPct val="93000"/>
              </a:lnSpc>
              <a:spcAft>
                <a:spcPts val="8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Search across OpenAlex, Europe PMC and Crossref, with the executed query shown to the researcher and editable.</a:t>
            </a:r>
          </a:p>
          <a:p>
            <a:pPr>
              <a:lnSpc>
                <a:spcPct val="93000"/>
              </a:lnSpc>
              <a:spcAft>
                <a:spcPts val="8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Deduplication by DOI and normalized title, then interleaving of the three sources.</a:t>
            </a:r>
          </a:p>
          <a:p>
            <a:pPr>
              <a:lnSpc>
                <a:spcPct val="93000"/>
              </a:lnSpc>
              <a:spcAft>
                <a:spcPts val="8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Open-access enrichment and PDF validation.</a:t>
            </a:r>
          </a:p>
          <a:p>
            <a:pPr>
              <a:lnSpc>
                <a:spcPct val="93000"/>
              </a:lnSpc>
              <a:spcAft>
                <a:spcPts val="8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Structured annotation of every retrieved article: its contribution, and how strongly it supports the component being built.</a:t>
            </a:r>
          </a:p>
          <a:p>
            <a:pPr>
              <a:lnSpc>
                <a:spcPct val="93000"/>
              </a:lnSpc>
              <a:spcAft>
                <a:spcPts val="8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Export of the curated corpus to BibTeX, RIS and CSV.</a:t>
            </a:r>
          </a:p>
          <a:p>
            <a:pPr>
              <a:lnSpc>
                <a:spcPct val="93000"/>
              </a:lnSpc>
              <a:spcAft>
                <a:spcPts val="800"/>
              </a:spcAft>
            </a:pPr>
            <a:r>
              <a:rPr sz="2800" b="0">
                <a:solidFill>
                  <a:srgbClr val="555555"/>
                </a:solidFill>
                <a:latin typeface="Calibri"/>
              </a:rPr>
              <a:t>Every article shown comes from a database, never from the model. Each search is logged with its query, filters and per-database counts, and the report renders a methods paragraph ready to paste into a manuscript.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0" y="3291840"/>
            <a:ext cx="1234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Results and figures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0" y="17373600"/>
            <a:ext cx="1234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0" y="18196560"/>
            <a:ext cx="123444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3000"/>
              </a:lnSpc>
              <a:spcAft>
                <a:spcPts val="10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Solvent polarity and extraction method are convergent variables linking phenolic recovery to bioactivity. The wider bibliometric picture shows accelerating output with an inflection around 2016, and roughly 70% of production concentrated in the Indo-Malayan region and Brazil, which raises an obvious question for our own setting: where is the Caribbean?</a:t>
            </a:r>
          </a:p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The literature also shows a weak link between composition, bioactivity and application. That disconnection is precisely the gap a decision instrument can help close.</a:t>
            </a:r>
          </a:p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800" b="0">
                <a:solidFill>
                  <a:srgbClr val="555555"/>
                </a:solidFill>
                <a:latin typeface="Calibri"/>
              </a:rPr>
              <a:t>A limitation worth stating plainly: the EDM is only as good as the abstracts feeding it. Today it is built from prose, so it can recommend a concentration range but cannot yet assemble a table of medians and study counts.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0" y="24323040"/>
            <a:ext cx="1234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Conclusions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0" y="25146000"/>
            <a:ext cx="123444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3000"/>
              </a:lnSpc>
              <a:spcAft>
                <a:spcPts val="10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Curated bibliometrics can be turned into operating criteria, not just a reading list.</a:t>
            </a:r>
          </a:p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Automated curation still needs verification: 91.3% agreement means about one variable in eleven required human correction.</a:t>
            </a:r>
          </a:p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The errors were systematic, not random: unit conversion between studies, and ranges reported as point values.</a:t>
            </a:r>
          </a:p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800" b="0">
                <a:solidFill>
                  <a:srgbClr val="1B1B1B"/>
                </a:solidFill>
                <a:latin typeface="Calibri"/>
              </a:rPr>
              <a:t>Declaring an absence of evidence is itself a result. Several EDM rows correctly concluded that no direct evidence exists for P. amboinicus and proposed an experiment instead.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41148000"/>
            <a:ext cx="26974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1330880"/>
            <a:ext cx="2606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>
                <a:solidFill>
                  <a:srgbClr val="4EC1B9"/>
                </a:solidFill>
                <a:latin typeface="Calibri"/>
              </a:rPr>
              <a:t>References and data availability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1970960"/>
            <a:ext cx="1284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Databases searched: OpenAlex, Europe PMC and Crossref. Open-access enrichment via Unpaywall; PDF validation with PyMuPDF. The curated 47-article corpus and the full search log are exportable from the tool in BibTeX, RIS and CSV, and are available from the authors.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73800" y="41330880"/>
            <a:ext cx="1303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>
                <a:solidFill>
                  <a:srgbClr val="4EC1B9"/>
                </a:solidFill>
                <a:latin typeface="Calibri"/>
              </a:rPr>
              <a:t>Acknowledgments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973800" y="41970960"/>
            <a:ext cx="1284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This research is an undergraduate project by Kamila López Díaz at the University of Puerto Rico, Río Piedras Campus (CIFI 4996), mentored by Prof. Manuel Reyes-Guzmán, Department of Physical Sciences, Faculty of General Studies. We thank the Puerto Rico Section of the American Chemical Society. EugenIA Lab is named after Eugene Garfield, founder of modern bibliometrics.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743200"/>
            <a:ext cx="18288" cy="41148000"/>
          </a:xfrm>
          <a:prstGeom prst="rect">
            <a:avLst/>
          </a:prstGeom>
          <a:solidFill>
            <a:srgbClr val="EAE7DF"/>
          </a:solidFill>
          <a:ln w="127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745200" y="2743200"/>
            <a:ext cx="18288" cy="41148000"/>
          </a:xfrm>
          <a:prstGeom prst="rect">
            <a:avLst/>
          </a:prstGeom>
          <a:solidFill>
            <a:srgbClr val="EAE7DF"/>
          </a:solidFill>
          <a:ln w="127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202400" y="2743200"/>
            <a:ext cx="18288" cy="41148000"/>
          </a:xfrm>
          <a:prstGeom prst="rect">
            <a:avLst/>
          </a:prstGeom>
          <a:solidFill>
            <a:srgbClr val="EAE7DF"/>
          </a:solidFill>
          <a:ln w="127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61200" y="2743200"/>
            <a:ext cx="18288" cy="41148000"/>
          </a:xfrm>
          <a:prstGeom prst="rect">
            <a:avLst/>
          </a:prstGeom>
          <a:solidFill>
            <a:srgbClr val="EAE7DF"/>
          </a:solidFill>
          <a:ln w="127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2743200"/>
            <a:ext cx="26974800" cy="18288"/>
          </a:xfrm>
          <a:prstGeom prst="rect">
            <a:avLst/>
          </a:prstGeom>
          <a:solidFill>
            <a:srgbClr val="EAE7DF"/>
          </a:solidFill>
          <a:ln w="127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0" y="41148000"/>
            <a:ext cx="26974800" cy="18288"/>
          </a:xfrm>
          <a:prstGeom prst="rect">
            <a:avLst/>
          </a:prstGeom>
          <a:solidFill>
            <a:srgbClr val="EAE7DF"/>
          </a:solidFill>
          <a:ln w="1270">
            <a:solidFill>
              <a:srgbClr val="EA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logo_up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3519" y="466344"/>
            <a:ext cx="1737360" cy="1737360"/>
          </a:xfrm>
          <a:prstGeom prst="rect">
            <a:avLst/>
          </a:prstGeom>
        </p:spPr>
      </p:pic>
      <p:pic>
        <p:nvPicPr>
          <p:cNvPr id="50" name="Picture 49" descr="logo_colegio_r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2047" y="466344"/>
            <a:ext cx="1737360" cy="1737360"/>
          </a:xfrm>
          <a:prstGeom prst="rect">
            <a:avLst/>
          </a:prstGeom>
        </p:spPr>
      </p:pic>
      <p:pic>
        <p:nvPicPr>
          <p:cNvPr id="51" name="Picture 50" descr="logo_a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0575" y="466344"/>
            <a:ext cx="983345" cy="1737360"/>
          </a:xfrm>
          <a:prstGeom prst="rect">
            <a:avLst/>
          </a:prstGeom>
        </p:spPr>
      </p:pic>
      <p:pic>
        <p:nvPicPr>
          <p:cNvPr id="52" name="Picture 51" descr="qr-produc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60" y="14324640"/>
            <a:ext cx="3080400" cy="30804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77240" y="1764792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2800" b="1">
                <a:solidFill>
                  <a:srgbClr val="6A1B9A"/>
                </a:solidFill>
                <a:latin typeface="Calibri"/>
              </a:rPr>
              <a:t>Biblioteca Viva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2400" b="0">
                <a:solidFill>
                  <a:srgbClr val="555555"/>
                </a:solidFill>
                <a:latin typeface="Calibri"/>
              </a:rPr>
              <a:t>Scan to run this workflow on your own phone. No install, no account.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2130552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4600" b="1">
                <a:solidFill>
                  <a:srgbClr val="6A1B9A"/>
                </a:solidFill>
                <a:latin typeface="Calibri"/>
              </a:rPr>
              <a:t>At a glance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22311360"/>
            <a:ext cx="4114800" cy="27432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4400" y="22448519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6000" b="1">
                <a:solidFill>
                  <a:srgbClr val="6A1B9A"/>
                </a:solidFill>
                <a:latin typeface="Calibri"/>
              </a:rPr>
              <a:t>47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23637239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curated articles in the corpus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25283160"/>
            <a:ext cx="4114800" cy="27432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14400" y="25420319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6000" b="1">
                <a:solidFill>
                  <a:srgbClr val="6A1B9A"/>
                </a:solidFill>
                <a:latin typeface="Calibri"/>
              </a:rPr>
              <a:t>20–40%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26609039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v/v aqueous ethanol, most reported solvent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28254960"/>
            <a:ext cx="4114800" cy="27432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14400" y="28392119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6000" b="1">
                <a:solidFill>
                  <a:srgbClr val="6A1B9A"/>
                </a:solidFill>
                <a:latin typeface="Calibri"/>
              </a:rPr>
              <a:t>20–80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295808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mg GAE/g, total phenolic content in polar solvents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31226760"/>
            <a:ext cx="4114800" cy="27432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14400" y="31363919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6000" b="1">
                <a:solidFill>
                  <a:srgbClr val="6A1B9A"/>
                </a:solidFill>
                <a:latin typeface="Calibri"/>
              </a:rPr>
              <a:t>91.3%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325526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agreement, automated vs manual extraction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34198560"/>
            <a:ext cx="4114800" cy="27432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14400" y="3433572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6000" b="1">
                <a:solidFill>
                  <a:srgbClr val="6A1B9A"/>
                </a:solidFill>
                <a:latin typeface="Calibri"/>
              </a:rPr>
              <a:t>50–70%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355244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v/v ethanol, criterion adopted for the teaching lab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37170360"/>
            <a:ext cx="4114800" cy="27432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14400" y="3730752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6000" b="1">
                <a:solidFill>
                  <a:srgbClr val="6A1B9A"/>
                </a:solidFill>
                <a:latin typeface="Calibr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384962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databases searched: OpenAlex, Europe PMC, Crossref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16093440"/>
            <a:ext cx="1234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From literature to experimental decision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43600" y="17007840"/>
            <a:ext cx="2194560" cy="22860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035040" y="17236440"/>
            <a:ext cx="2011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2100" b="0">
                <a:solidFill>
                  <a:srgbClr val="1B1B1B"/>
                </a:solidFill>
                <a:latin typeface="Calibri"/>
              </a:rPr>
              <a:t>Scientific
literature
(PDFs)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56448" y="17739360"/>
            <a:ext cx="27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600" b="1">
                <a:solidFill>
                  <a:srgbClr val="6A1B9A"/>
                </a:solidFill>
                <a:latin typeface="Calibri"/>
              </a:rPr>
              <a:t>→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30767" y="17007840"/>
            <a:ext cx="2194560" cy="22860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522207" y="17236440"/>
            <a:ext cx="2011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2100" b="0">
                <a:solidFill>
                  <a:srgbClr val="1B1B1B"/>
                </a:solidFill>
                <a:latin typeface="Calibri"/>
              </a:rPr>
              <a:t>Automated
search and
retrieval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43615" y="17739360"/>
            <a:ext cx="27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600" b="1">
                <a:solidFill>
                  <a:srgbClr val="6A1B9A"/>
                </a:solidFill>
                <a:latin typeface="Calibri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917936" y="17007840"/>
            <a:ext cx="2194560" cy="228600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1009376" y="17236440"/>
            <a:ext cx="2011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2100" b="0">
                <a:solidFill>
                  <a:srgbClr val="1B1B1B"/>
                </a:solidFill>
                <a:latin typeface="Calibri"/>
              </a:rPr>
              <a:t>Structured
variable
extraction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130784" y="17739360"/>
            <a:ext cx="27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600" b="1">
                <a:solidFill>
                  <a:srgbClr val="6A1B9A"/>
                </a:solidFill>
                <a:latin typeface="Calibri"/>
              </a:rPr>
              <a:t>→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3405104" y="17007840"/>
            <a:ext cx="2194560" cy="2286000"/>
          </a:xfrm>
          <a:prstGeom prst="roundRect">
            <a:avLst/>
          </a:prstGeom>
          <a:solidFill>
            <a:srgbClr val="ECE1F5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3496544" y="17236440"/>
            <a:ext cx="2011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6A1B9A"/>
                </a:solidFill>
                <a:latin typeface="Calibri"/>
              </a:rPr>
              <a:t>Experimental
Decision Matrix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617951" y="17739360"/>
            <a:ext cx="27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600" b="1">
                <a:solidFill>
                  <a:srgbClr val="6A1B9A"/>
                </a:solidFill>
                <a:latin typeface="Calibri"/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5892272" y="17007840"/>
            <a:ext cx="2194560" cy="2286000"/>
          </a:xfrm>
          <a:prstGeom prst="roundRect">
            <a:avLst/>
          </a:prstGeom>
          <a:solidFill>
            <a:srgbClr val="ECE1F5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5983712" y="17236440"/>
            <a:ext cx="2011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6A1B9A"/>
                </a:solidFill>
                <a:latin typeface="Calibri"/>
              </a:rPr>
              <a:t>Experimental
design criteria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43600" y="19659600"/>
            <a:ext cx="1234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The Experimental Decision Matrix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0" y="20574000"/>
            <a:ext cx="12344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spcAft>
                <a:spcPts val="1200"/>
              </a:spcAft>
            </a:pPr>
            <a:r>
              <a:rPr sz="3100" b="0">
                <a:solidFill>
                  <a:srgbClr val="1B1B1B"/>
                </a:solidFill>
                <a:latin typeface="Calibri"/>
              </a:rPr>
              <a:t>The EDM is the central artifact of the project. It is not a descriptive table: it is a decision instrument. Each row states a decision dimension, what the curated evidence reports, the criterion adopted for the laboratory, and the numbered sources that support it.</a:t>
            </a:r>
          </a:p>
          <a:p>
            <a:pPr>
              <a:lnSpc>
                <a:spcPct val="93000"/>
              </a:lnSpc>
              <a:spcAft>
                <a:spcPts val="1200"/>
              </a:spcAft>
            </a:pPr>
            <a:r>
              <a:rPr sz="3100" b="1">
                <a:solidFill>
                  <a:srgbClr val="1B1B1B"/>
                </a:solidFill>
                <a:latin typeface="Calibri"/>
              </a:rPr>
              <a:t>The design adopted here, aqueous ethanol at 50–70% v/v, balances what the curated corpus reports against what a teaching laboratory can actually run.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0" y="24780240"/>
            <a:ext cx="1234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Why the matrix is auditable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852160" y="25694640"/>
            <a:ext cx="12527280" cy="685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6217920" y="25968960"/>
            <a:ext cx="1188720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100" b="0">
                <a:solidFill>
                  <a:srgbClr val="E8F0E3"/>
                </a:solidFill>
                <a:latin typeface="Consolas"/>
              </a:rPr>
              <a:t>// Output schema: the EDM is typed, not prose
mde: {
  dimensiones: [{
    dimension:          string,  // decision variable
    hallazgo_evidencia: string,  // what the corpus reports
    criterio_adoptado:  string,  // what the lab will do
    fuentes: [integer]           // papers backing the row
  }]
}
// Defensibility audit: every signal must be anchored
ancla_tipo: enum [ "fuente_bibliografica",
                   "ausencia_en_corpus",
                   "resultado_propio" 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0" y="32826960"/>
            <a:ext cx="12344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700" b="0">
                <a:solidFill>
                  <a:srgbClr val="1B1B1B"/>
                </a:solidFill>
                <a:latin typeface="Calibri"/>
              </a:rPr>
              <a:t>Constraining the model to a schema is what makes the matrix auditable. The fuentes field forces every adopted criterion back to specific curated papers, and the audit step must anchor each signal either to a real source or to an explicitly declared absence of evidence.</a:t>
            </a:r>
          </a:p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700" b="1">
                <a:solidFill>
                  <a:srgbClr val="1B1B1B"/>
                </a:solidFill>
                <a:latin typeface="Calibri"/>
              </a:rPr>
              <a:t>The agent cannot answer from intuition: if the corpus does not support a value, the correct output is a declared gap and a proposed experiment, not a fabricated number.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43600" y="36941760"/>
            <a:ext cx="1234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What this semester closes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3600" y="37856160"/>
            <a:ext cx="12344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spcAft>
                <a:spcPts val="0"/>
              </a:spcAft>
            </a:pPr>
            <a:r>
              <a:rPr sz="2700" b="0">
                <a:solidFill>
                  <a:srgbClr val="1B1B1B"/>
                </a:solidFill>
                <a:latin typeface="Calibri"/>
              </a:rPr>
              <a:t>Structured extraction of quantitative variables (solvent, method, yield, TPC, IC50/DPPH, conditions) still lives in a separate assistant. Integrating it into the pipeline is the goal for August to December 2026, and it is the real ceiling of the system today. Target: EugenIA v2.0.</a:t>
            </a:r>
          </a:p>
        </p:txBody>
      </p:sp>
      <p:pic>
        <p:nvPicPr>
          <p:cNvPr id="96" name="Picture 95" descr="14-mde-tab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0" y="4297680"/>
            <a:ext cx="3886200" cy="8410135"/>
          </a:xfrm>
          <a:prstGeom prst="rect">
            <a:avLst/>
          </a:prstGeom>
        </p:spPr>
      </p:pic>
      <p:pic>
        <p:nvPicPr>
          <p:cNvPr id="97" name="Picture 96" descr="07-busqueda-audita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65840" y="4297680"/>
            <a:ext cx="3886200" cy="8410135"/>
          </a:xfrm>
          <a:prstGeom prst="rect">
            <a:avLst/>
          </a:prstGeom>
        </p:spPr>
      </p:pic>
      <p:pic>
        <p:nvPicPr>
          <p:cNvPr id="98" name="Picture 97" descr="11-bibliografia-aceptada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72080" y="4297680"/>
            <a:ext cx="3886200" cy="841013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9659600" y="12936415"/>
            <a:ext cx="12344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900"/>
              </a:spcAft>
            </a:pPr>
            <a:r>
              <a:rPr sz="2300" b="0">
                <a:solidFill>
                  <a:srgbClr val="555555"/>
                </a:solidFill>
                <a:latin typeface="Calibri"/>
              </a:rPr>
              <a:t>Fig 1. EDM generated from a curated corpus. In the first row the system states that no reference on P. amboinicus reports a systematic TPC comparison across ethanol concentrations, anchors its recommendation to a study on another species, and proposes an experiment instead of inventing a value.</a:t>
            </a:r>
          </a:p>
          <a:p>
            <a:pPr>
              <a:lnSpc>
                <a:spcPct val="92000"/>
              </a:lnSpc>
              <a:spcAft>
                <a:spcPts val="900"/>
              </a:spcAft>
            </a:pPr>
            <a:r>
              <a:rPr sz="2300" b="0">
                <a:solidFill>
                  <a:srgbClr val="555555"/>
                </a:solidFill>
                <a:latin typeface="Calibri"/>
              </a:rPr>
              <a:t>Fig 2. Auditable search: the executed query and the records returned by each database. The researcher can rewrite the query, filter by year and document type, and repeat it.</a:t>
            </a:r>
          </a:p>
          <a:p>
            <a:pPr>
              <a:lnSpc>
                <a:spcPct val="92000"/>
              </a:lnSpc>
              <a:spcAft>
                <a:spcPts val="900"/>
              </a:spcAft>
            </a:pPr>
            <a:r>
              <a:rPr sz="2300" b="0">
                <a:solidFill>
                  <a:srgbClr val="555555"/>
                </a:solidFill>
                <a:latin typeface="Calibri"/>
              </a:rPr>
              <a:t>Fig 3. Curated bibliography. Each record carries source database, document type, journal, open-access status and a fit assessment. References enter as pending: the researcher accepts them explicitly.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659600" y="31089600"/>
            <a:ext cx="1234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6A1B9A"/>
                </a:solidFill>
                <a:latin typeface="Calibri"/>
              </a:rPr>
              <a:t>Validation of the automated curation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9568160" y="32004000"/>
            <a:ext cx="12527280" cy="283464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EA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9933920" y="321411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7600" b="1">
                <a:solidFill>
                  <a:srgbClr val="6A1B9A"/>
                </a:solidFill>
                <a:latin typeface="Calibri"/>
              </a:rPr>
              <a:t>91.3%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774400" y="32278319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500" b="0">
                <a:solidFill>
                  <a:srgbClr val="555555"/>
                </a:solidFill>
                <a:latin typeface="Calibri"/>
              </a:rPr>
              <a:t>agreement between EugenIA and manual extraction of experimental variables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659600" y="35112960"/>
            <a:ext cx="12344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700" b="0">
                <a:solidFill>
                  <a:srgbClr val="1B1B1B"/>
                </a:solidFill>
                <a:latin typeface="Calibri"/>
              </a:rPr>
              <a:t>Errors concentrated in two places: converting units between studies, and reading a reported range as if it were a point value.</a:t>
            </a:r>
          </a:p>
          <a:p>
            <a:pPr>
              <a:lnSpc>
                <a:spcPct val="93000"/>
              </a:lnSpc>
              <a:spcAft>
                <a:spcPts val="1000"/>
              </a:spcAft>
            </a:pPr>
            <a:r>
              <a:rPr sz="2700" b="1">
                <a:solidFill>
                  <a:srgbClr val="1B1B1B"/>
                </a:solidFill>
                <a:latin typeface="Calibri"/>
              </a:rPr>
              <a:t>The practical lesson is that automating the search is not enough. Every value that feeds the matrix has to be justified and verified before it becomes a design criterion.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